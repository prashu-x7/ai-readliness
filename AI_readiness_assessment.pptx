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8" r:id="rId3"/>
    <p:sldId id="259" r:id="rId4"/>
    <p:sldId id="260" r:id="rId5"/>
    <p:sldId id="261" r:id="rId6"/>
    <p:sldId id="265" r:id="rId7"/>
    <p:sldId id="266" r:id="rId8"/>
    <p:sldId id="257" r:id="rId9"/>
    <p:sldId id="264" r:id="rId10"/>
    <p:sldId id="263" r:id="rId11"/>
    <p:sldId id="267" r:id="rId12"/>
    <p:sldId id="275" r:id="rId13"/>
    <p:sldId id="276" r:id="rId14"/>
    <p:sldId id="277" r:id="rId15"/>
    <p:sldId id="268" r:id="rId16"/>
    <p:sldId id="269" r:id="rId17"/>
    <p:sldId id="270" r:id="rId18"/>
    <p:sldId id="271" r:id="rId19"/>
    <p:sldId id="272" r:id="rId20"/>
    <p:sldId id="273"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hanth CHIGICHERLA" userId="878bcf4faa4ac83b" providerId="LiveId" clId="{542CE97D-7714-4C09-A9B3-DCCEC2879E83}"/>
    <pc:docChg chg="modSld">
      <pc:chgData name="Prashanth CHIGICHERLA" userId="878bcf4faa4ac83b" providerId="LiveId" clId="{542CE97D-7714-4C09-A9B3-DCCEC2879E83}" dt="2026-03-11T08:31:45.294" v="9" actId="20577"/>
      <pc:docMkLst>
        <pc:docMk/>
      </pc:docMkLst>
      <pc:sldChg chg="modSp mod">
        <pc:chgData name="Prashanth CHIGICHERLA" userId="878bcf4faa4ac83b" providerId="LiveId" clId="{542CE97D-7714-4C09-A9B3-DCCEC2879E83}" dt="2026-03-11T08:31:45.294" v="9" actId="20577"/>
        <pc:sldMkLst>
          <pc:docMk/>
          <pc:sldMk cId="3547902905" sldId="269"/>
        </pc:sldMkLst>
        <pc:spChg chg="mod">
          <ac:chgData name="Prashanth CHIGICHERLA" userId="878bcf4faa4ac83b" providerId="LiveId" clId="{542CE97D-7714-4C09-A9B3-DCCEC2879E83}" dt="2026-03-11T08:31:45.294" v="9" actId="20577"/>
          <ac:spMkLst>
            <pc:docMk/>
            <pc:sldMk cId="3547902905" sldId="269"/>
            <ac:spMk id="3" creationId="{835CEBD1-3681-CDCA-9439-5E6D2A4F545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429612" y="1013984"/>
            <a:ext cx="7714388" cy="3260635"/>
          </a:xfrm>
        </p:spPr>
        <p:txBody>
          <a:bodyPr anchor="b"/>
          <a:lstStyle>
            <a:lvl1pPr algn="l">
              <a:defRPr sz="2800"/>
            </a:lvl1pPr>
          </a:lstStyle>
          <a:p>
            <a:r>
              <a:rPr lang="en-US"/>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429612" y="4848464"/>
            <a:ext cx="7714388" cy="1085849"/>
          </a:xfrm>
        </p:spPr>
        <p:txBody>
          <a:bodyPr>
            <a:normAutofit/>
          </a:bodyPr>
          <a:lstStyle>
            <a:lvl1pPr marL="0" indent="0" algn="l">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C4270120-CDFC-48DE-A6EA-6DEEDD0E436A}" type="datetimeFigureOut">
              <a:rPr lang="en-US" dirty="0"/>
              <a:t>3/11/2026</a:t>
            </a:fld>
            <a:endParaRPr lang="en-US"/>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196A61CA-0502-4EE4-9724-96EA822543E5}" type="slidenum">
              <a:rPr lang="en-US" dirty="0"/>
              <a:t>‹#›</a:t>
            </a:fld>
            <a:endParaRPr lang="en-US"/>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557046"/>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429566" y="1045445"/>
            <a:ext cx="9238434" cy="857559"/>
          </a:xfrm>
        </p:spPr>
        <p:txBody>
          <a:bodyPr anchor="b"/>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A3C9FAAF-C467-4C93-8ECD-39AF5A14D498}" type="datetimeFigureOut">
              <a:rPr lang="en-US" dirty="0"/>
              <a:t>3/11/2026</a:t>
            </a:fld>
            <a:endParaRPr lang="en-US"/>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196A61CA-0502-4EE4-9724-96EA822543E5}" type="slidenum">
              <a:rPr lang="en-US" dirty="0"/>
              <a:t>‹#›</a:t>
            </a:fld>
            <a:endParaRPr lang="en-US"/>
          </a:p>
        </p:txBody>
      </p:sp>
    </p:spTree>
    <p:extLst>
      <p:ext uri="{BB962C8B-B14F-4D97-AF65-F5344CB8AC3E}">
        <p14:creationId xmlns:p14="http://schemas.microsoft.com/office/powerpoint/2010/main" val="1923976048"/>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421745" y="1287554"/>
            <a:ext cx="8284963" cy="3113064"/>
          </a:xfrm>
        </p:spPr>
        <p:txBody>
          <a:bodyPr anchor="t"/>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E37E480-B2BA-4553-A144-61E7F75833ED}" type="datetimeFigureOut">
              <a:rPr lang="en-US" dirty="0"/>
              <a:t>3/11/2026</a:t>
            </a:fld>
            <a:endParaRPr lang="en-US"/>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196A61CA-0502-4EE4-9724-96EA822543E5}" type="slidenum">
              <a:rPr lang="en-US" dirty="0"/>
              <a:t>‹#›</a:t>
            </a:fld>
            <a:endParaRPr lang="en-US"/>
          </a:p>
        </p:txBody>
      </p:sp>
    </p:spTree>
    <p:extLst>
      <p:ext uri="{BB962C8B-B14F-4D97-AF65-F5344CB8AC3E}">
        <p14:creationId xmlns:p14="http://schemas.microsoft.com/office/powerpoint/2010/main" val="239836548"/>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429566" y="1013411"/>
            <a:ext cx="9238434" cy="889592"/>
          </a:xfrm>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90E682A-6B53-4B08-AE4D-4C5E659103CC}" type="datetimeFigureOut">
              <a:rPr lang="en-US" dirty="0"/>
              <a:t>3/11/2026</a:t>
            </a:fld>
            <a:endParaRPr lang="en-US"/>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196A61CA-0502-4EE4-9724-96EA822543E5}" type="slidenum">
              <a:rPr lang="en-US" dirty="0"/>
              <a:t>‹#›</a:t>
            </a:fld>
            <a:endParaRPr lang="en-US"/>
          </a:p>
        </p:txBody>
      </p:sp>
    </p:spTree>
    <p:extLst>
      <p:ext uri="{BB962C8B-B14F-4D97-AF65-F5344CB8AC3E}">
        <p14:creationId xmlns:p14="http://schemas.microsoft.com/office/powerpoint/2010/main" val="2361490093"/>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429566" y="1079150"/>
            <a:ext cx="9238434" cy="823912"/>
          </a:xfrm>
        </p:spPr>
        <p:txBody>
          <a:bodyPr/>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429567" y="2013217"/>
            <a:ext cx="4495799" cy="704232"/>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6172200" y="2013215"/>
            <a:ext cx="4495800" cy="704233"/>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7C69F0F6-BEBB-4894-ABB2-75C5CBE0DDB9}" type="datetimeFigureOut">
              <a:rPr lang="en-US" dirty="0"/>
              <a:t>3/11/2026</a:t>
            </a:fld>
            <a:endParaRPr lang="en-US"/>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196A61CA-0502-4EE4-9724-96EA822543E5}" type="slidenum">
              <a:rPr lang="en-US" dirty="0"/>
              <a:t>‹#›</a:t>
            </a:fld>
            <a:endParaRPr lang="en-US"/>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542402"/>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8B3E9E5F-17D9-4A30-9DA3-64E46A6DF111}" type="datetimeFigureOut">
              <a:rPr lang="en-US" dirty="0"/>
              <a:t>3/11/2026</a:t>
            </a:fld>
            <a:endParaRPr lang="en-US"/>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196A61CA-0502-4EE4-9724-96EA822543E5}" type="slidenum">
              <a:rPr lang="en-US" dirty="0"/>
              <a:t>‹#›</a:t>
            </a:fld>
            <a:endParaRPr lang="en-US"/>
          </a:p>
        </p:txBody>
      </p:sp>
    </p:spTree>
    <p:extLst>
      <p:ext uri="{BB962C8B-B14F-4D97-AF65-F5344CB8AC3E}">
        <p14:creationId xmlns:p14="http://schemas.microsoft.com/office/powerpoint/2010/main" val="1972555579"/>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033AC5F0-3BC3-4718-BCCA-24B5655EC864}" type="datetimeFigureOut">
              <a:rPr lang="en-US" dirty="0"/>
              <a:t>3/11/2026</a:t>
            </a:fld>
            <a:endParaRPr lang="en-US"/>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196A61CA-0502-4EE4-9724-96EA822543E5}" type="slidenum">
              <a:rPr lang="en-US" dirty="0"/>
              <a:t>‹#›</a:t>
            </a:fld>
            <a:endParaRPr lang="en-US"/>
          </a:p>
        </p:txBody>
      </p:sp>
    </p:spTree>
    <p:extLst>
      <p:ext uri="{BB962C8B-B14F-4D97-AF65-F5344CB8AC3E}">
        <p14:creationId xmlns:p14="http://schemas.microsoft.com/office/powerpoint/2010/main" val="1965512365"/>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443740" y="1558944"/>
            <a:ext cx="3279689" cy="1864196"/>
          </a:xfrm>
        </p:spPr>
        <p:txBody>
          <a:bodyPr anchor="b"/>
          <a:lstStyle>
            <a:lvl1pPr algn="r">
              <a:defRPr sz="2800">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9EB8BD81-465B-40F2-9A54-9DF3B12AF598}" type="datetimeFigureOut">
              <a:rPr lang="en-US" dirty="0"/>
              <a:t>3/11/2026</a:t>
            </a:fld>
            <a:endParaRPr lang="en-US"/>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196A61CA-0502-4EE4-9724-96EA822543E5}" type="slidenum">
              <a:rPr lang="en-US" dirty="0"/>
              <a:t>‹#›</a:t>
            </a:fld>
            <a:endParaRPr lang="en-US"/>
          </a:p>
        </p:txBody>
      </p:sp>
    </p:spTree>
    <p:extLst>
      <p:ext uri="{BB962C8B-B14F-4D97-AF65-F5344CB8AC3E}">
        <p14:creationId xmlns:p14="http://schemas.microsoft.com/office/powerpoint/2010/main" val="235368439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433543" y="1383126"/>
            <a:ext cx="3289886" cy="2045874"/>
          </a:xfrm>
        </p:spPr>
        <p:txBody>
          <a:bodyPr anchor="b"/>
          <a:lstStyle>
            <a:lvl1pPr algn="r">
              <a:defRPr sz="2800">
                <a:solidFill>
                  <a:schemeClr val="tx1"/>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noChangeAspect="1"/>
          </p:cNvSpPr>
          <p:nvPr>
            <p:ph type="pic" idx="1"/>
          </p:nvPr>
        </p:nvSpPr>
        <p:spPr>
          <a:xfrm>
            <a:off x="5334001" y="762000"/>
            <a:ext cx="5333999" cy="5334000"/>
          </a:xfrm>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F04B3CEF-64EF-4C43-9530-8E9CBFD2CAD1}" type="datetimeFigureOut">
              <a:rPr lang="en-US" dirty="0"/>
              <a:t>3/11/2026</a:t>
            </a:fld>
            <a:endParaRPr lang="en-US"/>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196A61CA-0502-4EE4-9724-96EA822543E5}" type="slidenum">
              <a:rPr lang="en-US" dirty="0"/>
              <a:t>‹#›</a:t>
            </a:fld>
            <a:endParaRPr lang="en-US"/>
          </a:p>
        </p:txBody>
      </p:sp>
    </p:spTree>
    <p:extLst>
      <p:ext uri="{BB962C8B-B14F-4D97-AF65-F5344CB8AC3E}">
        <p14:creationId xmlns:p14="http://schemas.microsoft.com/office/powerpoint/2010/main" val="3547772252"/>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2A1F5BA7-0A17-4D30-9B66-E29324151C73}" type="datetimeFigureOut">
              <a:rPr lang="en-US" dirty="0"/>
              <a:t>3/11/2026</a:t>
            </a:fld>
            <a:endParaRPr lang="en-US"/>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196A61CA-0502-4EE4-9724-96EA822543E5}" type="slidenum">
              <a:rPr lang="en-US" dirty="0"/>
              <a:t>‹#›</a:t>
            </a:fld>
            <a:endParaRPr lang="en-US"/>
          </a:p>
        </p:txBody>
      </p:sp>
    </p:spTree>
    <p:extLst>
      <p:ext uri="{BB962C8B-B14F-4D97-AF65-F5344CB8AC3E}">
        <p14:creationId xmlns:p14="http://schemas.microsoft.com/office/powerpoint/2010/main" val="485482508"/>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9144000" y="1467699"/>
            <a:ext cx="1758461" cy="4628301"/>
          </a:xfrm>
        </p:spPr>
        <p:txBody>
          <a:bodyPr vert="eaVert"/>
          <a:lstStyle>
            <a:lvl1pPr>
              <a:defRPr>
                <a:solidFill>
                  <a:schemeClr val="tx1"/>
                </a:solidFill>
              </a:defRPr>
            </a:lvl1pPr>
          </a:lstStyle>
          <a:p>
            <a:r>
              <a:rPr lang="en-US"/>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76BEBB1B-D40A-4DB9-B3DE-BAAE675B83CD}" type="datetimeFigureOut">
              <a:rPr lang="en-US" dirty="0"/>
              <a:t>3/11/2026</a:t>
            </a:fld>
            <a:endParaRPr lang="en-US"/>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196A61CA-0502-4EE4-9724-96EA822543E5}" type="slidenum">
              <a:rPr lang="en-US" dirty="0"/>
              <a:t>‹#›</a:t>
            </a:fld>
            <a:endParaRPr lang="en-US"/>
          </a:p>
        </p:txBody>
      </p:sp>
    </p:spTree>
    <p:extLst>
      <p:ext uri="{BB962C8B-B14F-4D97-AF65-F5344CB8AC3E}">
        <p14:creationId xmlns:p14="http://schemas.microsoft.com/office/powerpoint/2010/main" val="563456194"/>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429566" y="1041621"/>
            <a:ext cx="9238434" cy="861383"/>
          </a:xfrm>
          <a:prstGeom prst="rect">
            <a:avLst/>
          </a:prstGeom>
        </p:spPr>
        <p:txBody>
          <a:bodyPr vert="horz" lIns="91440" tIns="45720" rIns="91440" bIns="4572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429566" y="2285999"/>
            <a:ext cx="9238434" cy="3810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10471087" y="4891318"/>
            <a:ext cx="2673295"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B70A3DFD-A535-46B2-84C1-61DC8B16A904}" type="datetimeFigureOut">
              <a:rPr lang="en-US" dirty="0"/>
              <a:t>3/11/2026</a:t>
            </a:fld>
            <a:endParaRPr lang="en-US"/>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10473021" y="1609893"/>
            <a:ext cx="2669427" cy="365125"/>
          </a:xfrm>
          <a:prstGeom prst="rect">
            <a:avLst/>
          </a:prstGeom>
        </p:spPr>
        <p:txBody>
          <a:bodyPr vert="horz" lIns="91440" tIns="45720" rIns="91440" bIns="45720" rtlCol="0" anchor="ctr"/>
          <a:lstStyle>
            <a:lvl1pPr algn="r">
              <a:defRPr sz="700" b="1" cap="all" spc="30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fld id="{196A61CA-0502-4EE4-9724-96EA822543E5}" type="slidenum">
              <a:rPr lang="en-US" dirty="0"/>
              <a:t>‹#›</a:t>
            </a:fld>
            <a:endParaRPr lang="en-US"/>
          </a:p>
        </p:txBody>
      </p:sp>
    </p:spTree>
    <p:extLst>
      <p:ext uri="{BB962C8B-B14F-4D97-AF65-F5344CB8AC3E}">
        <p14:creationId xmlns:p14="http://schemas.microsoft.com/office/powerpoint/2010/main" val="973230342"/>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slow">
    <p:wipe/>
  </p:transition>
  <p:hf hdr="0"/>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3840">
          <p15:clr>
            <a:srgbClr val="F26B43"/>
          </p15:clr>
        </p15:guide>
        <p15:guide id="3" pos="7200">
          <p15:clr>
            <a:srgbClr val="F26B43"/>
          </p15:clr>
        </p15:guide>
        <p15:guide id="4" pos="6720">
          <p15:clr>
            <a:srgbClr val="F26B43"/>
          </p15:clr>
        </p15:guide>
        <p15:guide id="16" pos="480">
          <p15:clr>
            <a:srgbClr val="F26B43"/>
          </p15:clr>
        </p15:guide>
        <p15:guide id="23" orient="horz"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91A38-D639-5529-E012-37603702BD32}"/>
              </a:ext>
            </a:extLst>
          </p:cNvPr>
          <p:cNvSpPr>
            <a:spLocks noGrp="1"/>
          </p:cNvSpPr>
          <p:nvPr>
            <p:ph type="ctrTitle"/>
          </p:nvPr>
        </p:nvSpPr>
        <p:spPr/>
        <p:txBody>
          <a:bodyPr/>
          <a:lstStyle/>
          <a:p>
            <a:r>
              <a:rPr lang="en-IN"/>
              <a:t>Ai readiness assessment tool</a:t>
            </a:r>
            <a:br>
              <a:rPr lang="en-IN"/>
            </a:br>
            <a:br>
              <a:rPr lang="en-IN"/>
            </a:br>
            <a:br>
              <a:rPr lang="en-IN"/>
            </a:br>
            <a:endParaRPr lang="en-IN"/>
          </a:p>
        </p:txBody>
      </p:sp>
      <p:sp>
        <p:nvSpPr>
          <p:cNvPr id="3" name="Subtitle 2">
            <a:extLst>
              <a:ext uri="{FF2B5EF4-FFF2-40B4-BE49-F238E27FC236}">
                <a16:creationId xmlns:a16="http://schemas.microsoft.com/office/drawing/2014/main" id="{ED681DA1-3EBA-B579-CBC9-C466694BBE89}"/>
              </a:ext>
            </a:extLst>
          </p:cNvPr>
          <p:cNvSpPr>
            <a:spLocks noGrp="1"/>
          </p:cNvSpPr>
          <p:nvPr>
            <p:ph type="subTitle" idx="1"/>
          </p:nvPr>
        </p:nvSpPr>
        <p:spPr/>
        <p:txBody>
          <a:bodyPr vert="horz" lIns="91440" tIns="45720" rIns="91440" bIns="45720" rtlCol="0" anchor="t">
            <a:normAutofit/>
          </a:bodyPr>
          <a:lstStyle/>
          <a:p>
            <a:r>
              <a:rPr lang="en-IN"/>
              <a:t>GESIX SOLUTIONS PVT LTD</a:t>
            </a:r>
          </a:p>
        </p:txBody>
      </p:sp>
    </p:spTree>
    <p:extLst>
      <p:ext uri="{BB962C8B-B14F-4D97-AF65-F5344CB8AC3E}">
        <p14:creationId xmlns:p14="http://schemas.microsoft.com/office/powerpoint/2010/main" val="413252394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F25A1-D586-F98A-7AFA-C978608816C7}"/>
              </a:ext>
            </a:extLst>
          </p:cNvPr>
          <p:cNvSpPr>
            <a:spLocks noGrp="1"/>
          </p:cNvSpPr>
          <p:nvPr>
            <p:ph type="title"/>
          </p:nvPr>
        </p:nvSpPr>
        <p:spPr/>
        <p:txBody>
          <a:bodyPr/>
          <a:lstStyle/>
          <a:p>
            <a:r>
              <a:rPr lang="en-US"/>
              <a:t>PROBLEM STATEMENT</a:t>
            </a:r>
          </a:p>
        </p:txBody>
      </p:sp>
      <p:sp>
        <p:nvSpPr>
          <p:cNvPr id="3" name="Content Placeholder 2">
            <a:extLst>
              <a:ext uri="{FF2B5EF4-FFF2-40B4-BE49-F238E27FC236}">
                <a16:creationId xmlns:a16="http://schemas.microsoft.com/office/drawing/2014/main" id="{6F27AE76-06E9-F9F0-B660-C3807D65AD4B}"/>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Most organizations rely on legacy or custom-built web applications (Java, MEAN, MERN stack). While there is a high demand to integrate AI features into these platforms, many are not structurally ready to support AI, leading to integration failures or security risks. There is currently no standardized tool that allows architects to "scan" an application’s code and design documents to objectively verify if they are ready for AI integration.</a:t>
            </a:r>
            <a:endParaRPr lang="en-US"/>
          </a:p>
        </p:txBody>
      </p:sp>
      <p:sp>
        <p:nvSpPr>
          <p:cNvPr id="4" name="Date Placeholder 3">
            <a:extLst>
              <a:ext uri="{FF2B5EF4-FFF2-40B4-BE49-F238E27FC236}">
                <a16:creationId xmlns:a16="http://schemas.microsoft.com/office/drawing/2014/main" id="{10F51FD8-431E-34DD-4650-468DD080E019}"/>
              </a:ext>
            </a:extLst>
          </p:cNvPr>
          <p:cNvSpPr>
            <a:spLocks noGrp="1"/>
          </p:cNvSpPr>
          <p:nvPr>
            <p:ph type="dt" sz="half" idx="10"/>
          </p:nvPr>
        </p:nvSpPr>
        <p:spPr/>
        <p:txBody>
          <a:bodyPr/>
          <a:lstStyle/>
          <a:p>
            <a:fld id="{0FC054D6-E883-48EC-8256-02DAD816198D}" type="datetime1">
              <a:rPr lang="en-US"/>
              <a:t>3/11/2026</a:t>
            </a:fld>
            <a:endParaRPr lang="en-US"/>
          </a:p>
        </p:txBody>
      </p:sp>
      <p:sp>
        <p:nvSpPr>
          <p:cNvPr id="5" name="Footer Placeholder 4">
            <a:extLst>
              <a:ext uri="{FF2B5EF4-FFF2-40B4-BE49-F238E27FC236}">
                <a16:creationId xmlns:a16="http://schemas.microsoft.com/office/drawing/2014/main" id="{770D8530-2B47-3478-B11E-6C2D504F592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607248F-9D5A-8142-63CA-8A9BE5793E2E}"/>
              </a:ext>
            </a:extLst>
          </p:cNvPr>
          <p:cNvSpPr>
            <a:spLocks noGrp="1"/>
          </p:cNvSpPr>
          <p:nvPr>
            <p:ph type="sldNum" sz="quarter" idx="12"/>
          </p:nvPr>
        </p:nvSpPr>
        <p:spPr/>
        <p:txBody>
          <a:bodyPr/>
          <a:lstStyle/>
          <a:p>
            <a:fld id="{196A61CA-0502-4EE4-9724-96EA822543E5}" type="slidenum">
              <a:rPr lang="en-US" dirty="0"/>
              <a:t>2</a:t>
            </a:fld>
            <a:endParaRPr lang="en-US"/>
          </a:p>
        </p:txBody>
      </p:sp>
    </p:spTree>
    <p:extLst>
      <p:ext uri="{BB962C8B-B14F-4D97-AF65-F5344CB8AC3E}">
        <p14:creationId xmlns:p14="http://schemas.microsoft.com/office/powerpoint/2010/main" val="123905559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A72E9-8A4B-A9CC-B0DA-642008970036}"/>
              </a:ext>
            </a:extLst>
          </p:cNvPr>
          <p:cNvSpPr>
            <a:spLocks noGrp="1"/>
          </p:cNvSpPr>
          <p:nvPr>
            <p:ph type="title"/>
          </p:nvPr>
        </p:nvSpPr>
        <p:spPr/>
        <p:txBody>
          <a:bodyPr/>
          <a:lstStyle/>
          <a:p>
            <a:r>
              <a:rPr lang="en-US"/>
              <a:t>Introduction </a:t>
            </a:r>
          </a:p>
        </p:txBody>
      </p:sp>
      <p:sp>
        <p:nvSpPr>
          <p:cNvPr id="3" name="Content Placeholder 2">
            <a:extLst>
              <a:ext uri="{FF2B5EF4-FFF2-40B4-BE49-F238E27FC236}">
                <a16:creationId xmlns:a16="http://schemas.microsoft.com/office/drawing/2014/main" id="{549BFF92-15E9-BDBF-03B2-5B2F9B1FD96B}"/>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The </a:t>
            </a:r>
            <a:r>
              <a:rPr lang="en-US" b="1">
                <a:ea typeface="+mn-lt"/>
                <a:cs typeface="+mn-lt"/>
              </a:rPr>
              <a:t>AI Readiness Assessment Tool</a:t>
            </a:r>
            <a:r>
              <a:rPr lang="en-US">
                <a:ea typeface="+mn-lt"/>
                <a:cs typeface="+mn-lt"/>
              </a:rPr>
              <a:t> is a web-based application developed to evaluate whether a website is prepared for AI integration. Many organizations aim to adopt AI technologies, but their existing systems may not always have the required components such as structured data, APIs, or scalable architecture.</a:t>
            </a:r>
            <a:endParaRPr lang="en-US"/>
          </a:p>
          <a:p>
            <a:pPr marL="0" indent="0">
              <a:buNone/>
            </a:pPr>
            <a:r>
              <a:rPr lang="en-US">
                <a:ea typeface="+mn-lt"/>
                <a:cs typeface="+mn-lt"/>
              </a:rPr>
              <a:t>This tool allows users to upload their project files, which are then analyzed to determine the system’s capability to support AI features. Based on this analysis, the tool generates an </a:t>
            </a:r>
            <a:r>
              <a:rPr lang="en-US" b="1">
                <a:ea typeface="+mn-lt"/>
                <a:cs typeface="+mn-lt"/>
              </a:rPr>
              <a:t>AI readiness score</a:t>
            </a:r>
            <a:r>
              <a:rPr lang="en-US">
                <a:ea typeface="+mn-lt"/>
                <a:cs typeface="+mn-lt"/>
              </a:rPr>
              <a:t>, identifies </a:t>
            </a:r>
            <a:r>
              <a:rPr lang="en-US" b="1">
                <a:ea typeface="+mn-lt"/>
                <a:cs typeface="+mn-lt"/>
              </a:rPr>
              <a:t>missing components</a:t>
            </a:r>
            <a:r>
              <a:rPr lang="en-US">
                <a:ea typeface="+mn-lt"/>
                <a:cs typeface="+mn-lt"/>
              </a:rPr>
              <a:t>, and provides </a:t>
            </a:r>
            <a:r>
              <a:rPr lang="en-US" b="1">
                <a:ea typeface="+mn-lt"/>
                <a:cs typeface="+mn-lt"/>
              </a:rPr>
              <a:t>suggestions for improvement</a:t>
            </a:r>
            <a:r>
              <a:rPr lang="en-US">
                <a:ea typeface="+mn-lt"/>
                <a:cs typeface="+mn-lt"/>
              </a:rPr>
              <a:t>. This helps developers and organizations understand the changes needed to make their systems ready for effective AI integration.</a:t>
            </a:r>
            <a:endParaRPr lang="en-US"/>
          </a:p>
          <a:p>
            <a:endParaRPr lang="en-US"/>
          </a:p>
        </p:txBody>
      </p:sp>
      <p:sp>
        <p:nvSpPr>
          <p:cNvPr id="4" name="Date Placeholder 3">
            <a:extLst>
              <a:ext uri="{FF2B5EF4-FFF2-40B4-BE49-F238E27FC236}">
                <a16:creationId xmlns:a16="http://schemas.microsoft.com/office/drawing/2014/main" id="{3F2455BB-1388-3732-EBA6-70B4CD39FE93}"/>
              </a:ext>
            </a:extLst>
          </p:cNvPr>
          <p:cNvSpPr>
            <a:spLocks noGrp="1"/>
          </p:cNvSpPr>
          <p:nvPr>
            <p:ph type="dt" sz="half" idx="10"/>
          </p:nvPr>
        </p:nvSpPr>
        <p:spPr/>
        <p:txBody>
          <a:bodyPr/>
          <a:lstStyle/>
          <a:p>
            <a:fld id="{2A62657E-2398-487B-951A-2B9C300908C9}" type="datetime1">
              <a:rPr lang="en-US"/>
              <a:t>3/11/2026</a:t>
            </a:fld>
            <a:endParaRPr lang="en-US"/>
          </a:p>
        </p:txBody>
      </p:sp>
      <p:sp>
        <p:nvSpPr>
          <p:cNvPr id="5" name="Footer Placeholder 4">
            <a:extLst>
              <a:ext uri="{FF2B5EF4-FFF2-40B4-BE49-F238E27FC236}">
                <a16:creationId xmlns:a16="http://schemas.microsoft.com/office/drawing/2014/main" id="{263C2B91-A756-DE5D-9015-CD53553B64F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0497801-41B6-AE84-6E85-EAD6E11CDC75}"/>
              </a:ext>
            </a:extLst>
          </p:cNvPr>
          <p:cNvSpPr>
            <a:spLocks noGrp="1"/>
          </p:cNvSpPr>
          <p:nvPr>
            <p:ph type="sldNum" sz="quarter" idx="12"/>
          </p:nvPr>
        </p:nvSpPr>
        <p:spPr/>
        <p:txBody>
          <a:bodyPr/>
          <a:lstStyle/>
          <a:p>
            <a:fld id="{196A61CA-0502-4EE4-9724-96EA822543E5}" type="slidenum">
              <a:rPr lang="en-US" dirty="0"/>
              <a:t>3</a:t>
            </a:fld>
            <a:endParaRPr lang="en-US"/>
          </a:p>
        </p:txBody>
      </p:sp>
    </p:spTree>
    <p:extLst>
      <p:ext uri="{BB962C8B-B14F-4D97-AF65-F5344CB8AC3E}">
        <p14:creationId xmlns:p14="http://schemas.microsoft.com/office/powerpoint/2010/main" val="83772456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EFAED-DECE-077F-7D14-A147A0409399}"/>
              </a:ext>
            </a:extLst>
          </p:cNvPr>
          <p:cNvSpPr>
            <a:spLocks noGrp="1"/>
          </p:cNvSpPr>
          <p:nvPr>
            <p:ph type="title"/>
          </p:nvPr>
        </p:nvSpPr>
        <p:spPr/>
        <p:txBody>
          <a:bodyPr/>
          <a:lstStyle/>
          <a:p>
            <a:r>
              <a:rPr lang="en-US"/>
              <a:t>objectives</a:t>
            </a:r>
          </a:p>
        </p:txBody>
      </p:sp>
      <p:sp>
        <p:nvSpPr>
          <p:cNvPr id="3" name="Content Placeholder 2">
            <a:extLst>
              <a:ext uri="{FF2B5EF4-FFF2-40B4-BE49-F238E27FC236}">
                <a16:creationId xmlns:a16="http://schemas.microsoft.com/office/drawing/2014/main" id="{54AD34A4-A878-6D24-8814-CB215237573B}"/>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 </a:t>
            </a:r>
            <a:r>
              <a:rPr lang="en-US" b="1">
                <a:ea typeface="+mn-lt"/>
                <a:cs typeface="+mn-lt"/>
              </a:rPr>
              <a:t>Evaluate AI Readiness</a:t>
            </a:r>
            <a:r>
              <a:rPr lang="en-US">
                <a:ea typeface="+mn-lt"/>
                <a:cs typeface="+mn-lt"/>
              </a:rPr>
              <a:t> – Analyze whether a system is capable of integrating AI technologies.</a:t>
            </a:r>
            <a:endParaRPr lang="en-US"/>
          </a:p>
          <a:p>
            <a:pPr marL="0" indent="0">
              <a:buNone/>
            </a:pPr>
            <a:r>
              <a:rPr lang="en-US">
                <a:ea typeface="+mn-lt"/>
                <a:cs typeface="+mn-lt"/>
              </a:rPr>
              <a:t>• </a:t>
            </a:r>
            <a:r>
              <a:rPr lang="en-US" b="1">
                <a:ea typeface="+mn-lt"/>
                <a:cs typeface="+mn-lt"/>
              </a:rPr>
              <a:t>Identify Missing Components</a:t>
            </a:r>
            <a:r>
              <a:rPr lang="en-US">
                <a:ea typeface="+mn-lt"/>
                <a:cs typeface="+mn-lt"/>
              </a:rPr>
              <a:t> – Detect essential elements required for AI implementation.</a:t>
            </a:r>
            <a:endParaRPr lang="en-US"/>
          </a:p>
          <a:p>
            <a:pPr marL="0" indent="0">
              <a:buNone/>
            </a:pPr>
            <a:r>
              <a:rPr lang="en-US">
                <a:ea typeface="+mn-lt"/>
                <a:cs typeface="+mn-lt"/>
              </a:rPr>
              <a:t>• </a:t>
            </a:r>
            <a:r>
              <a:rPr lang="en-US" b="1">
                <a:ea typeface="+mn-lt"/>
                <a:cs typeface="+mn-lt"/>
              </a:rPr>
              <a:t>Generate AI Readiness Score</a:t>
            </a:r>
            <a:r>
              <a:rPr lang="en-US">
                <a:ea typeface="+mn-lt"/>
                <a:cs typeface="+mn-lt"/>
              </a:rPr>
              <a:t> – Provide a score indicating the level of AI readiness.</a:t>
            </a:r>
            <a:endParaRPr lang="en-US"/>
          </a:p>
          <a:p>
            <a:pPr marL="0" indent="0">
              <a:buNone/>
            </a:pPr>
            <a:r>
              <a:rPr lang="en-US">
                <a:ea typeface="+mn-lt"/>
                <a:cs typeface="+mn-lt"/>
              </a:rPr>
              <a:t>• </a:t>
            </a:r>
            <a:r>
              <a:rPr lang="en-US" b="1">
                <a:ea typeface="+mn-lt"/>
                <a:cs typeface="+mn-lt"/>
              </a:rPr>
              <a:t>Provide Improvement Suggestions</a:t>
            </a:r>
            <a:r>
              <a:rPr lang="en-US">
                <a:ea typeface="+mn-lt"/>
                <a:cs typeface="+mn-lt"/>
              </a:rPr>
              <a:t> – Suggest changes to help improve AI compatibility.</a:t>
            </a:r>
            <a:endParaRPr lang="en-US"/>
          </a:p>
          <a:p>
            <a:pPr marL="0" indent="0">
              <a:buNone/>
            </a:pPr>
            <a:r>
              <a:rPr lang="en-US">
                <a:ea typeface="+mn-lt"/>
                <a:cs typeface="+mn-lt"/>
              </a:rPr>
              <a:t>• </a:t>
            </a:r>
            <a:r>
              <a:rPr lang="en-US" b="1">
                <a:ea typeface="+mn-lt"/>
                <a:cs typeface="+mn-lt"/>
              </a:rPr>
              <a:t>Enable Re-evaluation</a:t>
            </a:r>
            <a:r>
              <a:rPr lang="en-US">
                <a:ea typeface="+mn-lt"/>
                <a:cs typeface="+mn-lt"/>
              </a:rPr>
              <a:t> – Allow users to reassess readiness after making improvements.</a:t>
            </a:r>
            <a:endParaRPr lang="en-US"/>
          </a:p>
          <a:p>
            <a:pPr marL="0" indent="0">
              <a:buNone/>
            </a:pPr>
            <a:r>
              <a:rPr lang="en-US">
                <a:ea typeface="+mn-lt"/>
                <a:cs typeface="+mn-lt"/>
              </a:rPr>
              <a:t>• </a:t>
            </a:r>
            <a:r>
              <a:rPr lang="en-US" b="1">
                <a:ea typeface="+mn-lt"/>
                <a:cs typeface="+mn-lt"/>
              </a:rPr>
              <a:t>Improve Decision Making</a:t>
            </a:r>
            <a:r>
              <a:rPr lang="en-US">
                <a:ea typeface="+mn-lt"/>
                <a:cs typeface="+mn-lt"/>
              </a:rPr>
              <a:t> – Help organizations plan AI adoption effectively.</a:t>
            </a:r>
            <a:endParaRPr lang="en-US"/>
          </a:p>
          <a:p>
            <a:endParaRPr lang="en-US"/>
          </a:p>
        </p:txBody>
      </p:sp>
      <p:sp>
        <p:nvSpPr>
          <p:cNvPr id="4" name="Date Placeholder 3">
            <a:extLst>
              <a:ext uri="{FF2B5EF4-FFF2-40B4-BE49-F238E27FC236}">
                <a16:creationId xmlns:a16="http://schemas.microsoft.com/office/drawing/2014/main" id="{40C7D9C5-2CFC-1633-2966-543081567D9A}"/>
              </a:ext>
            </a:extLst>
          </p:cNvPr>
          <p:cNvSpPr>
            <a:spLocks noGrp="1"/>
          </p:cNvSpPr>
          <p:nvPr>
            <p:ph type="dt" sz="half" idx="10"/>
          </p:nvPr>
        </p:nvSpPr>
        <p:spPr/>
        <p:txBody>
          <a:bodyPr/>
          <a:lstStyle/>
          <a:p>
            <a:fld id="{F0865BFF-A176-4B01-87EC-D4028B2F2C4F}" type="datetime1">
              <a:rPr lang="en-US"/>
              <a:t>3/11/2026</a:t>
            </a:fld>
            <a:endParaRPr lang="en-US"/>
          </a:p>
        </p:txBody>
      </p:sp>
      <p:sp>
        <p:nvSpPr>
          <p:cNvPr id="5" name="Footer Placeholder 4">
            <a:extLst>
              <a:ext uri="{FF2B5EF4-FFF2-40B4-BE49-F238E27FC236}">
                <a16:creationId xmlns:a16="http://schemas.microsoft.com/office/drawing/2014/main" id="{FA7E7286-93AC-0D08-C9C6-898B2A34B0F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335C3E7-C86A-EDEA-1F0B-07BDBC0353FB}"/>
              </a:ext>
            </a:extLst>
          </p:cNvPr>
          <p:cNvSpPr>
            <a:spLocks noGrp="1"/>
          </p:cNvSpPr>
          <p:nvPr>
            <p:ph type="sldNum" sz="quarter" idx="12"/>
          </p:nvPr>
        </p:nvSpPr>
        <p:spPr/>
        <p:txBody>
          <a:bodyPr/>
          <a:lstStyle/>
          <a:p>
            <a:fld id="{196A61CA-0502-4EE4-9724-96EA822543E5}" type="slidenum">
              <a:rPr lang="en-US" dirty="0"/>
              <a:t>4</a:t>
            </a:fld>
            <a:endParaRPr lang="en-US"/>
          </a:p>
        </p:txBody>
      </p:sp>
    </p:spTree>
    <p:extLst>
      <p:ext uri="{BB962C8B-B14F-4D97-AF65-F5344CB8AC3E}">
        <p14:creationId xmlns:p14="http://schemas.microsoft.com/office/powerpoint/2010/main" val="395572079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5792B-F488-4C53-A75B-3FAD04074FA6}"/>
              </a:ext>
            </a:extLst>
          </p:cNvPr>
          <p:cNvSpPr>
            <a:spLocks noGrp="1"/>
          </p:cNvSpPr>
          <p:nvPr>
            <p:ph type="title"/>
          </p:nvPr>
        </p:nvSpPr>
        <p:spPr/>
        <p:txBody>
          <a:bodyPr/>
          <a:lstStyle/>
          <a:p>
            <a:r>
              <a:rPr lang="en-US"/>
              <a:t>Team members and roles</a:t>
            </a:r>
          </a:p>
        </p:txBody>
      </p:sp>
      <p:sp>
        <p:nvSpPr>
          <p:cNvPr id="3" name="Content Placeholder 2">
            <a:extLst>
              <a:ext uri="{FF2B5EF4-FFF2-40B4-BE49-F238E27FC236}">
                <a16:creationId xmlns:a16="http://schemas.microsoft.com/office/drawing/2014/main" id="{25CC1E46-2726-E50B-AE6F-7515E0905BCC}"/>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a:t>FRONTEND</a:t>
            </a:r>
          </a:p>
          <a:p>
            <a:r>
              <a:rPr lang="en-US"/>
              <a:t>PRAJNA EP</a:t>
            </a:r>
          </a:p>
          <a:p>
            <a:r>
              <a:rPr lang="en-US"/>
              <a:t>JAGRUTHI M REDDY</a:t>
            </a:r>
          </a:p>
          <a:p>
            <a:pPr marL="0" indent="0">
              <a:buNone/>
            </a:pPr>
            <a:r>
              <a:rPr lang="en-US"/>
              <a:t>BACKEND</a:t>
            </a:r>
          </a:p>
          <a:p>
            <a:r>
              <a:rPr lang="en-US"/>
              <a:t>PRASHANTH C</a:t>
            </a:r>
          </a:p>
          <a:p>
            <a:r>
              <a:rPr lang="en-US"/>
              <a:t>SRUJANA M</a:t>
            </a:r>
          </a:p>
          <a:p>
            <a:r>
              <a:rPr lang="en-US"/>
              <a:t>SWATHI K</a:t>
            </a:r>
          </a:p>
          <a:p>
            <a:r>
              <a:rPr lang="en-US"/>
              <a:t>SUMAN K</a:t>
            </a:r>
          </a:p>
          <a:p>
            <a:r>
              <a:rPr lang="en-US"/>
              <a:t>PREETI V</a:t>
            </a:r>
          </a:p>
        </p:txBody>
      </p:sp>
      <p:sp>
        <p:nvSpPr>
          <p:cNvPr id="4" name="Date Placeholder 3">
            <a:extLst>
              <a:ext uri="{FF2B5EF4-FFF2-40B4-BE49-F238E27FC236}">
                <a16:creationId xmlns:a16="http://schemas.microsoft.com/office/drawing/2014/main" id="{DE883963-683B-3B23-08E5-5763022457C0}"/>
              </a:ext>
            </a:extLst>
          </p:cNvPr>
          <p:cNvSpPr>
            <a:spLocks noGrp="1"/>
          </p:cNvSpPr>
          <p:nvPr>
            <p:ph type="dt" sz="half" idx="10"/>
          </p:nvPr>
        </p:nvSpPr>
        <p:spPr/>
        <p:txBody>
          <a:bodyPr/>
          <a:lstStyle/>
          <a:p>
            <a:fld id="{367AE4E3-B48F-4418-894B-99C1216570E1}" type="datetime1">
              <a:rPr lang="en-US"/>
              <a:t>3/11/2026</a:t>
            </a:fld>
            <a:endParaRPr lang="en-US"/>
          </a:p>
        </p:txBody>
      </p:sp>
      <p:sp>
        <p:nvSpPr>
          <p:cNvPr id="5" name="Footer Placeholder 4">
            <a:extLst>
              <a:ext uri="{FF2B5EF4-FFF2-40B4-BE49-F238E27FC236}">
                <a16:creationId xmlns:a16="http://schemas.microsoft.com/office/drawing/2014/main" id="{AE1BB2FD-236F-73B6-F744-9A691A847C6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5A996AA-D9CA-C152-EEF8-D2EBA420CD93}"/>
              </a:ext>
            </a:extLst>
          </p:cNvPr>
          <p:cNvSpPr>
            <a:spLocks noGrp="1"/>
          </p:cNvSpPr>
          <p:nvPr>
            <p:ph type="sldNum" sz="quarter" idx="12"/>
          </p:nvPr>
        </p:nvSpPr>
        <p:spPr/>
        <p:txBody>
          <a:bodyPr/>
          <a:lstStyle/>
          <a:p>
            <a:fld id="{196A61CA-0502-4EE4-9724-96EA822543E5}" type="slidenum">
              <a:rPr lang="en-US" dirty="0"/>
              <a:t>5</a:t>
            </a:fld>
            <a:endParaRPr lang="en-US"/>
          </a:p>
        </p:txBody>
      </p:sp>
    </p:spTree>
    <p:extLst>
      <p:ext uri="{BB962C8B-B14F-4D97-AF65-F5344CB8AC3E}">
        <p14:creationId xmlns:p14="http://schemas.microsoft.com/office/powerpoint/2010/main" val="332539952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45471-0EBD-A913-D7CA-EB31558E1AE9}"/>
              </a:ext>
            </a:extLst>
          </p:cNvPr>
          <p:cNvSpPr>
            <a:spLocks noGrp="1"/>
          </p:cNvSpPr>
          <p:nvPr>
            <p:ph type="title"/>
          </p:nvPr>
        </p:nvSpPr>
        <p:spPr/>
        <p:txBody>
          <a:bodyPr/>
          <a:lstStyle/>
          <a:p>
            <a:r>
              <a:rPr lang="en-US"/>
              <a:t>Solution Approach</a:t>
            </a:r>
          </a:p>
        </p:txBody>
      </p:sp>
      <p:sp>
        <p:nvSpPr>
          <p:cNvPr id="3" name="Content Placeholder 2">
            <a:extLst>
              <a:ext uri="{FF2B5EF4-FFF2-40B4-BE49-F238E27FC236}">
                <a16:creationId xmlns:a16="http://schemas.microsoft.com/office/drawing/2014/main" id="{65FD2183-B9A8-B523-5B64-D5670F29C059}"/>
              </a:ext>
            </a:extLst>
          </p:cNvPr>
          <p:cNvSpPr>
            <a:spLocks noGrp="1"/>
          </p:cNvSpPr>
          <p:nvPr>
            <p:ph idx="1"/>
          </p:nvPr>
        </p:nvSpPr>
        <p:spPr>
          <a:xfrm>
            <a:off x="947714" y="2218765"/>
            <a:ext cx="6661081" cy="3877235"/>
          </a:xfrm>
        </p:spPr>
        <p:txBody>
          <a:bodyPr vert="horz" lIns="91440" tIns="45720" rIns="91440" bIns="45720" rtlCol="0" anchor="t">
            <a:normAutofit fontScale="92500" lnSpcReduction="10000"/>
          </a:bodyPr>
          <a:lstStyle/>
          <a:p>
            <a:pPr marL="0" indent="0">
              <a:buNone/>
            </a:pPr>
            <a:r>
              <a:rPr lang="en-US">
                <a:ea typeface="+mn-lt"/>
                <a:cs typeface="+mn-lt"/>
              </a:rPr>
              <a:t>Our AI Readiness Assessment Tool analyzes an application's codebase and architecture to determine whether it can support AI integration.</a:t>
            </a:r>
            <a:endParaRPr lang="en-US"/>
          </a:p>
          <a:p>
            <a:pPr marL="0" indent="0">
              <a:buNone/>
            </a:pPr>
            <a:r>
              <a:rPr lang="en-US">
                <a:ea typeface="+mn-lt"/>
                <a:cs typeface="+mn-lt"/>
              </a:rPr>
              <a:t>The system works through the following approach:</a:t>
            </a:r>
            <a:endParaRPr lang="en-US"/>
          </a:p>
          <a:p>
            <a:r>
              <a:rPr lang="en-US">
                <a:ea typeface="+mn-lt"/>
                <a:cs typeface="+mn-lt"/>
              </a:rPr>
              <a:t>Accept application source code or repository</a:t>
            </a:r>
            <a:endParaRPr lang="en-US"/>
          </a:p>
          <a:p>
            <a:r>
              <a:rPr lang="en-US">
                <a:ea typeface="+mn-lt"/>
                <a:cs typeface="+mn-lt"/>
              </a:rPr>
              <a:t>Analyze files using rule-based static analysis</a:t>
            </a:r>
            <a:endParaRPr lang="en-US"/>
          </a:p>
          <a:p>
            <a:r>
              <a:rPr lang="en-US">
                <a:ea typeface="+mn-lt"/>
                <a:cs typeface="+mn-lt"/>
              </a:rPr>
              <a:t>Detect architectural and security signals</a:t>
            </a:r>
            <a:endParaRPr lang="en-US"/>
          </a:p>
          <a:p>
            <a:r>
              <a:rPr lang="en-US">
                <a:ea typeface="+mn-lt"/>
                <a:cs typeface="+mn-lt"/>
              </a:rPr>
              <a:t>Evaluate readiness across multiple engineering layers</a:t>
            </a:r>
            <a:endParaRPr lang="en-US"/>
          </a:p>
          <a:p>
            <a:r>
              <a:rPr lang="en-US">
                <a:ea typeface="+mn-lt"/>
                <a:cs typeface="+mn-lt"/>
              </a:rPr>
              <a:t>Generate an AI readiness score</a:t>
            </a:r>
            <a:endParaRPr lang="en-US"/>
          </a:p>
          <a:p>
            <a:r>
              <a:rPr lang="en-US">
                <a:ea typeface="+mn-lt"/>
                <a:cs typeface="+mn-lt"/>
              </a:rPr>
              <a:t>Provide improvement recommendations</a:t>
            </a:r>
            <a:endParaRPr lang="en-US"/>
          </a:p>
          <a:p>
            <a:endParaRPr lang="en-US"/>
          </a:p>
        </p:txBody>
      </p:sp>
      <p:sp>
        <p:nvSpPr>
          <p:cNvPr id="4" name="Date Placeholder 3">
            <a:extLst>
              <a:ext uri="{FF2B5EF4-FFF2-40B4-BE49-F238E27FC236}">
                <a16:creationId xmlns:a16="http://schemas.microsoft.com/office/drawing/2014/main" id="{2249C140-1D49-83B3-9F27-499CFA0BD450}"/>
              </a:ext>
            </a:extLst>
          </p:cNvPr>
          <p:cNvSpPr>
            <a:spLocks noGrp="1"/>
          </p:cNvSpPr>
          <p:nvPr>
            <p:ph type="dt" sz="half" idx="10"/>
          </p:nvPr>
        </p:nvSpPr>
        <p:spPr/>
        <p:txBody>
          <a:bodyPr/>
          <a:lstStyle/>
          <a:p>
            <a:fld id="{E76D0459-84F5-4276-8CFB-0ABF7165EC26}" type="datetime1">
              <a:rPr lang="en-US"/>
              <a:t>3/11/2026</a:t>
            </a:fld>
            <a:endParaRPr lang="en-US"/>
          </a:p>
        </p:txBody>
      </p:sp>
      <p:sp>
        <p:nvSpPr>
          <p:cNvPr id="5" name="Footer Placeholder 4">
            <a:extLst>
              <a:ext uri="{FF2B5EF4-FFF2-40B4-BE49-F238E27FC236}">
                <a16:creationId xmlns:a16="http://schemas.microsoft.com/office/drawing/2014/main" id="{CD7A5FE1-6B62-6DC0-5037-EFCCDF486A5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6F54A85-BFB8-F224-CCED-C3B757982FA1}"/>
              </a:ext>
            </a:extLst>
          </p:cNvPr>
          <p:cNvSpPr>
            <a:spLocks noGrp="1"/>
          </p:cNvSpPr>
          <p:nvPr>
            <p:ph type="sldNum" sz="quarter" idx="12"/>
          </p:nvPr>
        </p:nvSpPr>
        <p:spPr/>
        <p:txBody>
          <a:bodyPr/>
          <a:lstStyle/>
          <a:p>
            <a:fld id="{196A61CA-0502-4EE4-9724-96EA822543E5}" type="slidenum">
              <a:rPr lang="en-US" dirty="0"/>
              <a:t>6</a:t>
            </a:fld>
            <a:endParaRPr lang="en-US"/>
          </a:p>
        </p:txBody>
      </p:sp>
      <p:pic>
        <p:nvPicPr>
          <p:cNvPr id="8" name="Picture 7" descr="A diagram of software development&#10;&#10;AI-generated content may be incorrect.">
            <a:extLst>
              <a:ext uri="{FF2B5EF4-FFF2-40B4-BE49-F238E27FC236}">
                <a16:creationId xmlns:a16="http://schemas.microsoft.com/office/drawing/2014/main" id="{ECF3E91D-B56C-FF76-9265-F16A1B7DA813}"/>
              </a:ext>
            </a:extLst>
          </p:cNvPr>
          <p:cNvPicPr>
            <a:picLocks noChangeAspect="1"/>
          </p:cNvPicPr>
          <p:nvPr/>
        </p:nvPicPr>
        <p:blipFill>
          <a:blip r:embed="rId2"/>
          <a:stretch>
            <a:fillRect/>
          </a:stretch>
        </p:blipFill>
        <p:spPr>
          <a:xfrm>
            <a:off x="7126461" y="672354"/>
            <a:ext cx="4685018" cy="5737412"/>
          </a:xfrm>
          <a:prstGeom prst="rect">
            <a:avLst/>
          </a:prstGeom>
        </p:spPr>
      </p:pic>
    </p:spTree>
    <p:extLst>
      <p:ext uri="{BB962C8B-B14F-4D97-AF65-F5344CB8AC3E}">
        <p14:creationId xmlns:p14="http://schemas.microsoft.com/office/powerpoint/2010/main" val="160952623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86666-D0A5-CDE5-907C-FA2E33F83EEF}"/>
              </a:ext>
            </a:extLst>
          </p:cNvPr>
          <p:cNvSpPr>
            <a:spLocks noGrp="1"/>
          </p:cNvSpPr>
          <p:nvPr>
            <p:ph type="title"/>
          </p:nvPr>
        </p:nvSpPr>
        <p:spPr/>
        <p:txBody>
          <a:bodyPr/>
          <a:lstStyle/>
          <a:p>
            <a:r>
              <a:rPr lang="en-US"/>
              <a:t>System overview</a:t>
            </a:r>
          </a:p>
        </p:txBody>
      </p:sp>
      <p:sp>
        <p:nvSpPr>
          <p:cNvPr id="3" name="Content Placeholder 2">
            <a:extLst>
              <a:ext uri="{FF2B5EF4-FFF2-40B4-BE49-F238E27FC236}">
                <a16:creationId xmlns:a16="http://schemas.microsoft.com/office/drawing/2014/main" id="{89D20BB2-95EA-1551-5C06-557300F1195A}"/>
              </a:ext>
            </a:extLst>
          </p:cNvPr>
          <p:cNvSpPr>
            <a:spLocks noGrp="1"/>
          </p:cNvSpPr>
          <p:nvPr>
            <p:ph idx="1"/>
          </p:nvPr>
        </p:nvSpPr>
        <p:spPr/>
        <p:txBody>
          <a:bodyPr vert="horz" lIns="91440" tIns="45720" rIns="91440" bIns="45720" rtlCol="0" anchor="t">
            <a:normAutofit fontScale="92500" lnSpcReduction="20000"/>
          </a:bodyPr>
          <a:lstStyle/>
          <a:p>
            <a:pPr>
              <a:buNone/>
            </a:pPr>
            <a:r>
              <a:rPr lang="en-US">
                <a:ea typeface="+mn-lt"/>
                <a:cs typeface="+mn-lt"/>
              </a:rPr>
              <a:t>The </a:t>
            </a:r>
            <a:r>
              <a:rPr lang="en-US" b="1">
                <a:ea typeface="+mn-lt"/>
                <a:cs typeface="+mn-lt"/>
              </a:rPr>
              <a:t>AI Readiness Assessment Tool</a:t>
            </a:r>
            <a:r>
              <a:rPr lang="en-US">
                <a:ea typeface="+mn-lt"/>
                <a:cs typeface="+mn-lt"/>
              </a:rPr>
              <a:t> is a web-based platform that evaluates whether a software application is prepared for AI integration.</a:t>
            </a:r>
            <a:endParaRPr lang="en-US"/>
          </a:p>
          <a:p>
            <a:pPr>
              <a:buNone/>
            </a:pPr>
            <a:r>
              <a:rPr lang="en-US" b="1">
                <a:ea typeface="+mn-lt"/>
                <a:cs typeface="+mn-lt"/>
              </a:rPr>
              <a:t>System Workflow:</a:t>
            </a:r>
          </a:p>
          <a:p>
            <a:pPr>
              <a:buNone/>
            </a:pPr>
            <a:r>
              <a:rPr lang="en-US">
                <a:ea typeface="+mn-lt"/>
                <a:cs typeface="+mn-lt"/>
              </a:rPr>
              <a:t>       • User uploads project files or GitHub repository</a:t>
            </a:r>
            <a:br>
              <a:rPr lang="en-US">
                <a:ea typeface="+mn-lt"/>
                <a:cs typeface="+mn-lt"/>
              </a:rPr>
            </a:br>
            <a:r>
              <a:rPr lang="en-US">
                <a:ea typeface="+mn-lt"/>
                <a:cs typeface="+mn-lt"/>
              </a:rPr>
              <a:t> • Backend processes and extracts project data</a:t>
            </a:r>
            <a:br>
              <a:rPr lang="en-US">
                <a:ea typeface="+mn-lt"/>
                <a:cs typeface="+mn-lt"/>
              </a:rPr>
            </a:br>
            <a:r>
              <a:rPr lang="en-US">
                <a:ea typeface="+mn-lt"/>
                <a:cs typeface="+mn-lt"/>
              </a:rPr>
              <a:t> • Static analysis engine scans code using predefined rules</a:t>
            </a:r>
            <a:br>
              <a:rPr lang="en-US">
                <a:ea typeface="+mn-lt"/>
                <a:cs typeface="+mn-lt"/>
              </a:rPr>
            </a:br>
            <a:r>
              <a:rPr lang="en-US">
                <a:ea typeface="+mn-lt"/>
                <a:cs typeface="+mn-lt"/>
              </a:rPr>
              <a:t> • Multi-layer evaluation analyzes architecture, security, APIs, and dependencies</a:t>
            </a:r>
            <a:br>
              <a:rPr lang="en-US">
                <a:ea typeface="+mn-lt"/>
                <a:cs typeface="+mn-lt"/>
              </a:rPr>
            </a:br>
            <a:r>
              <a:rPr lang="en-US">
                <a:ea typeface="+mn-lt"/>
                <a:cs typeface="+mn-lt"/>
              </a:rPr>
              <a:t> • Weighted scoring model calculates the AI readiness score</a:t>
            </a:r>
            <a:br>
              <a:rPr lang="en-US">
                <a:ea typeface="+mn-lt"/>
                <a:cs typeface="+mn-lt"/>
              </a:rPr>
            </a:br>
            <a:r>
              <a:rPr lang="en-US">
                <a:ea typeface="+mn-lt"/>
                <a:cs typeface="+mn-lt"/>
              </a:rPr>
              <a:t> • System generates a detailed assessment report with recommendations</a:t>
            </a:r>
            <a:endParaRPr lang="en-US"/>
          </a:p>
          <a:p>
            <a:pPr>
              <a:buNone/>
            </a:pPr>
            <a:r>
              <a:rPr lang="en-US" b="1">
                <a:ea typeface="+mn-lt"/>
                <a:cs typeface="+mn-lt"/>
              </a:rPr>
              <a:t>Outcome:</a:t>
            </a:r>
            <a:br>
              <a:rPr lang="en-US" b="1">
                <a:ea typeface="+mn-lt"/>
                <a:cs typeface="+mn-lt"/>
              </a:rPr>
            </a:br>
            <a:r>
              <a:rPr lang="en-US" b="1">
                <a:ea typeface="+mn-lt"/>
                <a:cs typeface="+mn-lt"/>
              </a:rPr>
              <a:t> Provides developers with a clear readiness score and improvement suggestions for AI adoption.</a:t>
            </a:r>
            <a:endParaRPr lang="en-US"/>
          </a:p>
          <a:p>
            <a:pPr marL="0" indent="0">
              <a:buNone/>
            </a:pPr>
            <a:endParaRPr lang="en-US"/>
          </a:p>
        </p:txBody>
      </p:sp>
      <p:sp>
        <p:nvSpPr>
          <p:cNvPr id="4" name="Date Placeholder 3">
            <a:extLst>
              <a:ext uri="{FF2B5EF4-FFF2-40B4-BE49-F238E27FC236}">
                <a16:creationId xmlns:a16="http://schemas.microsoft.com/office/drawing/2014/main" id="{301D8FDC-AB88-A112-5B0D-F84BB5866E65}"/>
              </a:ext>
            </a:extLst>
          </p:cNvPr>
          <p:cNvSpPr>
            <a:spLocks noGrp="1"/>
          </p:cNvSpPr>
          <p:nvPr>
            <p:ph type="dt" sz="half" idx="10"/>
          </p:nvPr>
        </p:nvSpPr>
        <p:spPr/>
        <p:txBody>
          <a:bodyPr/>
          <a:lstStyle/>
          <a:p>
            <a:fld id="{630E0D22-CA49-4D89-90D6-CD8292BA9DD1}" type="datetime1">
              <a:rPr lang="en-US"/>
              <a:t>3/11/2026</a:t>
            </a:fld>
            <a:endParaRPr lang="en-US"/>
          </a:p>
        </p:txBody>
      </p:sp>
      <p:sp>
        <p:nvSpPr>
          <p:cNvPr id="5" name="Footer Placeholder 4">
            <a:extLst>
              <a:ext uri="{FF2B5EF4-FFF2-40B4-BE49-F238E27FC236}">
                <a16:creationId xmlns:a16="http://schemas.microsoft.com/office/drawing/2014/main" id="{B338899C-3770-A995-1A6D-AB05CEB8FE9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729C189-B1A2-EDCD-D67E-902865AB834F}"/>
              </a:ext>
            </a:extLst>
          </p:cNvPr>
          <p:cNvSpPr>
            <a:spLocks noGrp="1"/>
          </p:cNvSpPr>
          <p:nvPr>
            <p:ph type="sldNum" sz="quarter" idx="12"/>
          </p:nvPr>
        </p:nvSpPr>
        <p:spPr/>
        <p:txBody>
          <a:bodyPr/>
          <a:lstStyle/>
          <a:p>
            <a:fld id="{196A61CA-0502-4EE4-9724-96EA822543E5}" type="slidenum">
              <a:rPr lang="en-US" dirty="0"/>
              <a:t>7</a:t>
            </a:fld>
            <a:endParaRPr lang="en-US"/>
          </a:p>
        </p:txBody>
      </p:sp>
    </p:spTree>
    <p:extLst>
      <p:ext uri="{BB962C8B-B14F-4D97-AF65-F5344CB8AC3E}">
        <p14:creationId xmlns:p14="http://schemas.microsoft.com/office/powerpoint/2010/main" val="280010891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DBB81-B41C-F7E2-D743-0363011DDA8E}"/>
              </a:ext>
            </a:extLst>
          </p:cNvPr>
          <p:cNvSpPr>
            <a:spLocks noGrp="1"/>
          </p:cNvSpPr>
          <p:nvPr>
            <p:ph type="title"/>
          </p:nvPr>
        </p:nvSpPr>
        <p:spPr/>
        <p:txBody>
          <a:bodyPr/>
          <a:lstStyle/>
          <a:p>
            <a:r>
              <a:rPr lang="en-US"/>
              <a:t>FRONTEND </a:t>
            </a:r>
          </a:p>
        </p:txBody>
      </p:sp>
      <p:sp>
        <p:nvSpPr>
          <p:cNvPr id="4" name="Date Placeholder 3">
            <a:extLst>
              <a:ext uri="{FF2B5EF4-FFF2-40B4-BE49-F238E27FC236}">
                <a16:creationId xmlns:a16="http://schemas.microsoft.com/office/drawing/2014/main" id="{761F9B01-4E66-7212-008F-6E0AE7F21FF7}"/>
              </a:ext>
            </a:extLst>
          </p:cNvPr>
          <p:cNvSpPr>
            <a:spLocks noGrp="1"/>
          </p:cNvSpPr>
          <p:nvPr>
            <p:ph type="dt" sz="half" idx="10"/>
          </p:nvPr>
        </p:nvSpPr>
        <p:spPr/>
        <p:txBody>
          <a:bodyPr/>
          <a:lstStyle/>
          <a:p>
            <a:fld id="{5AE5868B-A62A-4278-ACD7-425528A10235}" type="datetime1">
              <a:rPr lang="en-US"/>
              <a:t>3/11/2026</a:t>
            </a:fld>
            <a:endParaRPr lang="en-US"/>
          </a:p>
        </p:txBody>
      </p:sp>
      <p:sp>
        <p:nvSpPr>
          <p:cNvPr id="5" name="Footer Placeholder 4">
            <a:extLst>
              <a:ext uri="{FF2B5EF4-FFF2-40B4-BE49-F238E27FC236}">
                <a16:creationId xmlns:a16="http://schemas.microsoft.com/office/drawing/2014/main" id="{67C2BCBD-4C37-FF14-D403-BB456C21EA3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5CD3CB2-2D1B-A995-4D78-A1F27D236ADF}"/>
              </a:ext>
            </a:extLst>
          </p:cNvPr>
          <p:cNvSpPr>
            <a:spLocks noGrp="1"/>
          </p:cNvSpPr>
          <p:nvPr>
            <p:ph type="sldNum" sz="quarter" idx="12"/>
          </p:nvPr>
        </p:nvSpPr>
        <p:spPr/>
        <p:txBody>
          <a:bodyPr/>
          <a:lstStyle/>
          <a:p>
            <a:fld id="{196A61CA-0502-4EE4-9724-96EA822543E5}" type="slidenum">
              <a:rPr lang="en-US" dirty="0"/>
              <a:t>8</a:t>
            </a:fld>
            <a:endParaRPr lang="en-US"/>
          </a:p>
        </p:txBody>
      </p:sp>
      <p:sp>
        <p:nvSpPr>
          <p:cNvPr id="11" name="Content Placeholder 10">
            <a:extLst>
              <a:ext uri="{FF2B5EF4-FFF2-40B4-BE49-F238E27FC236}">
                <a16:creationId xmlns:a16="http://schemas.microsoft.com/office/drawing/2014/main" id="{8317A9B1-EA0E-36E5-08E5-58B4C4CA5165}"/>
              </a:ext>
            </a:extLst>
          </p:cNvPr>
          <p:cNvSpPr>
            <a:spLocks noGrp="1"/>
          </p:cNvSpPr>
          <p:nvPr>
            <p:ph idx="1"/>
          </p:nvPr>
        </p:nvSpPr>
        <p:spPr>
          <a:xfrm>
            <a:off x="4578207" y="2300377"/>
            <a:ext cx="6607378" cy="3810000"/>
          </a:xfrm>
        </p:spPr>
        <p:txBody>
          <a:bodyPr vert="horz" lIns="91440" tIns="45720" rIns="91440" bIns="45720" rtlCol="0" anchor="t">
            <a:normAutofit/>
          </a:bodyPr>
          <a:lstStyle/>
          <a:p>
            <a:r>
              <a:rPr lang="en-US">
                <a:ea typeface="+mn-lt"/>
                <a:cs typeface="+mn-lt"/>
              </a:rPr>
              <a:t>A website that tests if your software is ready to use AI.</a:t>
            </a:r>
          </a:p>
          <a:p>
            <a:r>
              <a:rPr lang="en-US">
                <a:ea typeface="+mn-lt"/>
                <a:cs typeface="+mn-lt"/>
              </a:rPr>
              <a:t>It analyzes </a:t>
            </a:r>
            <a:r>
              <a:rPr lang="en-US" b="1">
                <a:ea typeface="+mn-lt"/>
                <a:cs typeface="+mn-lt"/>
              </a:rPr>
              <a:t>8 key areas</a:t>
            </a:r>
            <a:r>
              <a:rPr lang="en-US">
                <a:ea typeface="+mn-lt"/>
                <a:cs typeface="+mn-lt"/>
              </a:rPr>
              <a:t> of your app to give you a readiness score.</a:t>
            </a:r>
          </a:p>
          <a:p>
            <a:r>
              <a:rPr lang="en-US">
                <a:ea typeface="+mn-lt"/>
                <a:cs typeface="+mn-lt"/>
              </a:rPr>
              <a:t>A big blue </a:t>
            </a:r>
            <a:r>
              <a:rPr lang="en-US" b="1">
                <a:ea typeface="+mn-lt"/>
                <a:cs typeface="+mn-lt"/>
              </a:rPr>
              <a:t>"Start Assessment"</a:t>
            </a:r>
            <a:r>
              <a:rPr lang="en-US">
                <a:ea typeface="+mn-lt"/>
                <a:cs typeface="+mn-lt"/>
              </a:rPr>
              <a:t> button to begin the evaluation.</a:t>
            </a:r>
          </a:p>
          <a:p>
            <a:r>
              <a:rPr lang="en-US">
                <a:ea typeface="+mn-lt"/>
                <a:cs typeface="+mn-lt"/>
              </a:rPr>
              <a:t>It uses "Advanced AI" to perform the analysis.</a:t>
            </a:r>
          </a:p>
          <a:p>
            <a:r>
              <a:rPr lang="en-US">
                <a:ea typeface="+mn-lt"/>
                <a:cs typeface="+mn-lt"/>
              </a:rPr>
              <a:t>A web app built on </a:t>
            </a:r>
            <a:r>
              <a:rPr lang="en-US" b="1">
                <a:ea typeface="+mn-lt"/>
                <a:cs typeface="+mn-lt"/>
              </a:rPr>
              <a:t>Vercel</a:t>
            </a:r>
            <a:r>
              <a:rPr lang="en-US">
                <a:ea typeface="+mn-lt"/>
                <a:cs typeface="+mn-lt"/>
              </a:rPr>
              <a:t> (https://ai-readiness-score-frontend.vercel.app/)</a:t>
            </a:r>
            <a:endParaRPr lang="en-US"/>
          </a:p>
        </p:txBody>
      </p:sp>
      <p:pic>
        <p:nvPicPr>
          <p:cNvPr id="13" name="Picture 12" descr="A screenshot of a computer&#10;&#10;AI-generated content may be incorrect.">
            <a:extLst>
              <a:ext uri="{FF2B5EF4-FFF2-40B4-BE49-F238E27FC236}">
                <a16:creationId xmlns:a16="http://schemas.microsoft.com/office/drawing/2014/main" id="{BAA10D92-D11D-1023-AF7B-076BE8E37498}"/>
              </a:ext>
            </a:extLst>
          </p:cNvPr>
          <p:cNvPicPr>
            <a:picLocks noChangeAspect="1"/>
          </p:cNvPicPr>
          <p:nvPr/>
        </p:nvPicPr>
        <p:blipFill>
          <a:blip r:embed="rId2"/>
          <a:stretch>
            <a:fillRect/>
          </a:stretch>
        </p:blipFill>
        <p:spPr>
          <a:xfrm>
            <a:off x="201283" y="2302051"/>
            <a:ext cx="4370717" cy="2685220"/>
          </a:xfrm>
          <a:prstGeom prst="rect">
            <a:avLst/>
          </a:prstGeom>
        </p:spPr>
      </p:pic>
    </p:spTree>
    <p:extLst>
      <p:ext uri="{BB962C8B-B14F-4D97-AF65-F5344CB8AC3E}">
        <p14:creationId xmlns:p14="http://schemas.microsoft.com/office/powerpoint/2010/main" val="3674337968"/>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54BE3-D223-782D-83B6-3963D5E1A88B}"/>
              </a:ext>
            </a:extLst>
          </p:cNvPr>
          <p:cNvSpPr>
            <a:spLocks noGrp="1"/>
          </p:cNvSpPr>
          <p:nvPr>
            <p:ph type="title"/>
          </p:nvPr>
        </p:nvSpPr>
        <p:spPr/>
        <p:txBody>
          <a:bodyPr/>
          <a:lstStyle/>
          <a:p>
            <a:r>
              <a:rPr lang="en-US"/>
              <a:t>FRONTEND</a:t>
            </a:r>
          </a:p>
        </p:txBody>
      </p:sp>
      <p:sp>
        <p:nvSpPr>
          <p:cNvPr id="3" name="Content Placeholder 2">
            <a:extLst>
              <a:ext uri="{FF2B5EF4-FFF2-40B4-BE49-F238E27FC236}">
                <a16:creationId xmlns:a16="http://schemas.microsoft.com/office/drawing/2014/main" id="{0EBF9820-29C6-5285-487C-310AAD7D1353}"/>
              </a:ext>
            </a:extLst>
          </p:cNvPr>
          <p:cNvSpPr>
            <a:spLocks noGrp="1"/>
          </p:cNvSpPr>
          <p:nvPr>
            <p:ph idx="1"/>
          </p:nvPr>
        </p:nvSpPr>
        <p:spPr>
          <a:xfrm>
            <a:off x="4650093" y="2286000"/>
            <a:ext cx="6017907" cy="3810000"/>
          </a:xfrm>
        </p:spPr>
        <p:txBody>
          <a:bodyPr vert="horz" lIns="91440" tIns="45720" rIns="91440" bIns="45720" rtlCol="0" anchor="t">
            <a:normAutofit fontScale="92500" lnSpcReduction="10000"/>
          </a:bodyPr>
          <a:lstStyle/>
          <a:p>
            <a:r>
              <a:rPr lang="en-US">
                <a:ea typeface="+mn-lt"/>
                <a:cs typeface="+mn-lt"/>
              </a:rPr>
              <a:t>You are asked to upload your application's data so the tool can analyze it.</a:t>
            </a:r>
            <a:endParaRPr lang="en-US"/>
          </a:p>
          <a:p>
            <a:r>
              <a:rPr lang="en-US">
                <a:ea typeface="+mn-lt"/>
                <a:cs typeface="+mn-lt"/>
              </a:rPr>
              <a:t>You can upload </a:t>
            </a:r>
            <a:r>
              <a:rPr lang="en-US" b="1">
                <a:ea typeface="+mn-lt"/>
                <a:cs typeface="+mn-lt"/>
              </a:rPr>
              <a:t>source code</a:t>
            </a:r>
            <a:r>
              <a:rPr lang="en-US">
                <a:ea typeface="+mn-lt"/>
                <a:cs typeface="+mn-lt"/>
              </a:rPr>
              <a:t>, </a:t>
            </a:r>
            <a:r>
              <a:rPr lang="en-US" b="1">
                <a:ea typeface="+mn-lt"/>
                <a:cs typeface="+mn-lt"/>
              </a:rPr>
              <a:t>technical documents</a:t>
            </a:r>
            <a:r>
              <a:rPr lang="en-US">
                <a:ea typeface="+mn-lt"/>
                <a:cs typeface="+mn-lt"/>
              </a:rPr>
              <a:t>, or simply provide a </a:t>
            </a:r>
            <a:r>
              <a:rPr lang="en-US" b="1">
                <a:ea typeface="+mn-lt"/>
                <a:cs typeface="+mn-lt"/>
              </a:rPr>
              <a:t>GitHub repository link</a:t>
            </a:r>
            <a:r>
              <a:rPr lang="en-US">
                <a:ea typeface="+mn-lt"/>
                <a:cs typeface="+mn-lt"/>
              </a:rPr>
              <a:t>.</a:t>
            </a:r>
            <a:endParaRPr lang="en-US"/>
          </a:p>
          <a:p>
            <a:r>
              <a:rPr lang="en-US">
                <a:ea typeface="+mn-lt"/>
                <a:cs typeface="+mn-lt"/>
              </a:rPr>
              <a:t>The tool accepts </a:t>
            </a:r>
            <a:r>
              <a:rPr lang="en-US" b="1">
                <a:ea typeface="+mn-lt"/>
                <a:cs typeface="+mn-lt"/>
              </a:rPr>
              <a:t>ZIP, PDF, TXT</a:t>
            </a:r>
            <a:r>
              <a:rPr lang="en-US">
                <a:ea typeface="+mn-lt"/>
                <a:cs typeface="+mn-lt"/>
              </a:rPr>
              <a:t>, and general </a:t>
            </a:r>
            <a:r>
              <a:rPr lang="en-US" b="1">
                <a:ea typeface="+mn-lt"/>
                <a:cs typeface="+mn-lt"/>
              </a:rPr>
              <a:t>source code files</a:t>
            </a:r>
            <a:r>
              <a:rPr lang="en-US">
                <a:ea typeface="+mn-lt"/>
                <a:cs typeface="+mn-lt"/>
              </a:rPr>
              <a:t>.</a:t>
            </a:r>
            <a:endParaRPr lang="en-US"/>
          </a:p>
          <a:p>
            <a:r>
              <a:rPr lang="en-US">
                <a:ea typeface="+mn-lt"/>
                <a:cs typeface="+mn-lt"/>
              </a:rPr>
              <a:t>There is a "drag and drop" area, a </a:t>
            </a:r>
            <a:r>
              <a:rPr lang="en-US" b="1">
                <a:ea typeface="+mn-lt"/>
                <a:cs typeface="+mn-lt"/>
              </a:rPr>
              <a:t>"Select Files"</a:t>
            </a:r>
            <a:r>
              <a:rPr lang="en-US">
                <a:ea typeface="+mn-lt"/>
                <a:cs typeface="+mn-lt"/>
              </a:rPr>
              <a:t> button, and a text box for pasting a web link.</a:t>
            </a:r>
            <a:endParaRPr lang="en-US"/>
          </a:p>
          <a:p>
            <a:r>
              <a:rPr lang="en-US">
                <a:ea typeface="+mn-lt"/>
                <a:cs typeface="+mn-lt"/>
              </a:rPr>
              <a:t>A </a:t>
            </a:r>
            <a:r>
              <a:rPr lang="en-US" b="1">
                <a:ea typeface="+mn-lt"/>
                <a:cs typeface="+mn-lt"/>
              </a:rPr>
              <a:t>"Back"</a:t>
            </a:r>
            <a:r>
              <a:rPr lang="en-US">
                <a:ea typeface="+mn-lt"/>
                <a:cs typeface="+mn-lt"/>
              </a:rPr>
              <a:t> button in the top right allows you to return to the previous landing page.</a:t>
            </a:r>
            <a:endParaRPr lang="en-US"/>
          </a:p>
          <a:p>
            <a:endParaRPr lang="en-US"/>
          </a:p>
        </p:txBody>
      </p:sp>
      <p:sp>
        <p:nvSpPr>
          <p:cNvPr id="4" name="Date Placeholder 3">
            <a:extLst>
              <a:ext uri="{FF2B5EF4-FFF2-40B4-BE49-F238E27FC236}">
                <a16:creationId xmlns:a16="http://schemas.microsoft.com/office/drawing/2014/main" id="{AB2D034F-9425-7AAE-723A-05863A029AF0}"/>
              </a:ext>
            </a:extLst>
          </p:cNvPr>
          <p:cNvSpPr>
            <a:spLocks noGrp="1"/>
          </p:cNvSpPr>
          <p:nvPr>
            <p:ph type="dt" sz="half" idx="10"/>
          </p:nvPr>
        </p:nvSpPr>
        <p:spPr/>
        <p:txBody>
          <a:bodyPr/>
          <a:lstStyle/>
          <a:p>
            <a:fld id="{0224FC1D-2994-4F3A-960C-6EA67D6AB833}" type="datetime1">
              <a:rPr lang="en-US"/>
              <a:t>3/11/2026</a:t>
            </a:fld>
            <a:endParaRPr lang="en-US"/>
          </a:p>
        </p:txBody>
      </p:sp>
      <p:sp>
        <p:nvSpPr>
          <p:cNvPr id="5" name="Footer Placeholder 4">
            <a:extLst>
              <a:ext uri="{FF2B5EF4-FFF2-40B4-BE49-F238E27FC236}">
                <a16:creationId xmlns:a16="http://schemas.microsoft.com/office/drawing/2014/main" id="{ED4D5793-5CCE-287A-B7A4-DF77773FCC70}"/>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0F7DB73-489B-DEF6-E07A-AEB171A58E43}"/>
              </a:ext>
            </a:extLst>
          </p:cNvPr>
          <p:cNvSpPr>
            <a:spLocks noGrp="1"/>
          </p:cNvSpPr>
          <p:nvPr>
            <p:ph type="sldNum" sz="quarter" idx="12"/>
          </p:nvPr>
        </p:nvSpPr>
        <p:spPr/>
        <p:txBody>
          <a:bodyPr/>
          <a:lstStyle/>
          <a:p>
            <a:fld id="{196A61CA-0502-4EE4-9724-96EA822543E5}" type="slidenum">
              <a:rPr lang="en-US" dirty="0"/>
              <a:t>9</a:t>
            </a:fld>
            <a:endParaRPr lang="en-US"/>
          </a:p>
        </p:txBody>
      </p:sp>
      <p:pic>
        <p:nvPicPr>
          <p:cNvPr id="7" name="Picture 6" descr="A screenshot of a computer&#10;&#10;AI-generated content may be incorrect.">
            <a:extLst>
              <a:ext uri="{FF2B5EF4-FFF2-40B4-BE49-F238E27FC236}">
                <a16:creationId xmlns:a16="http://schemas.microsoft.com/office/drawing/2014/main" id="{5BE31D0E-4440-EB8A-F9E5-24FD1C22F44C}"/>
              </a:ext>
            </a:extLst>
          </p:cNvPr>
          <p:cNvPicPr>
            <a:picLocks noChangeAspect="1"/>
          </p:cNvPicPr>
          <p:nvPr/>
        </p:nvPicPr>
        <p:blipFill>
          <a:blip r:embed="rId2"/>
          <a:stretch>
            <a:fillRect/>
          </a:stretch>
        </p:blipFill>
        <p:spPr>
          <a:xfrm>
            <a:off x="287547" y="2819635"/>
            <a:ext cx="4356340" cy="2627710"/>
          </a:xfrm>
          <a:prstGeom prst="rect">
            <a:avLst/>
          </a:prstGeom>
        </p:spPr>
      </p:pic>
    </p:spTree>
    <p:extLst>
      <p:ext uri="{BB962C8B-B14F-4D97-AF65-F5344CB8AC3E}">
        <p14:creationId xmlns:p14="http://schemas.microsoft.com/office/powerpoint/2010/main" val="44722157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44C4B-BDEC-8133-33D7-108F6B654F60}"/>
              </a:ext>
            </a:extLst>
          </p:cNvPr>
          <p:cNvSpPr>
            <a:spLocks noGrp="1"/>
          </p:cNvSpPr>
          <p:nvPr>
            <p:ph type="title"/>
          </p:nvPr>
        </p:nvSpPr>
        <p:spPr/>
        <p:txBody>
          <a:bodyPr/>
          <a:lstStyle/>
          <a:p>
            <a:r>
              <a:rPr lang="en-US"/>
              <a:t>FRONTEND</a:t>
            </a:r>
          </a:p>
        </p:txBody>
      </p:sp>
      <p:sp>
        <p:nvSpPr>
          <p:cNvPr id="3" name="Content Placeholder 2">
            <a:extLst>
              <a:ext uri="{FF2B5EF4-FFF2-40B4-BE49-F238E27FC236}">
                <a16:creationId xmlns:a16="http://schemas.microsoft.com/office/drawing/2014/main" id="{321D12DE-E758-417C-09B7-D60FEFA45F26}"/>
              </a:ext>
            </a:extLst>
          </p:cNvPr>
          <p:cNvSpPr>
            <a:spLocks noGrp="1"/>
          </p:cNvSpPr>
          <p:nvPr>
            <p:ph idx="1"/>
          </p:nvPr>
        </p:nvSpPr>
        <p:spPr>
          <a:xfrm>
            <a:off x="4837001" y="2286000"/>
            <a:ext cx="5830999" cy="3522453"/>
          </a:xfrm>
        </p:spPr>
        <p:txBody>
          <a:bodyPr vert="horz" lIns="91440" tIns="45720" rIns="91440" bIns="45720" rtlCol="0" anchor="t">
            <a:normAutofit fontScale="92500" lnSpcReduction="20000"/>
          </a:bodyPr>
          <a:lstStyle/>
          <a:p>
            <a:r>
              <a:rPr lang="en-US">
                <a:ea typeface="+mn-lt"/>
                <a:cs typeface="+mn-lt"/>
              </a:rPr>
              <a:t>The tool provides a high-level score to show how much potential your application has for AI integration.</a:t>
            </a:r>
          </a:p>
          <a:p>
            <a:r>
              <a:rPr lang="en-US">
                <a:ea typeface="+mn-lt"/>
                <a:cs typeface="+mn-lt"/>
              </a:rPr>
              <a:t>It categorizes findings into different urgency levels, such as "Strong" areas, "Warnings," and "Critical" issues.</a:t>
            </a:r>
          </a:p>
          <a:p>
            <a:r>
              <a:rPr lang="en-US">
                <a:ea typeface="+mn-lt"/>
                <a:cs typeface="+mn-lt"/>
              </a:rPr>
              <a:t>The analysis is broken down into specific technical layers, such as data storage, integration capabilities, and security.</a:t>
            </a:r>
            <a:endParaRPr lang="en-US"/>
          </a:p>
          <a:p>
            <a:r>
              <a:rPr lang="en-US">
                <a:ea typeface="+mn-lt"/>
                <a:cs typeface="+mn-lt"/>
              </a:rPr>
              <a:t>It provides a list of "Key Recommendations," which are specific tasks you should complete to improve your app.</a:t>
            </a:r>
            <a:endParaRPr lang="en-US"/>
          </a:p>
          <a:p>
            <a:r>
              <a:rPr lang="en-US">
                <a:ea typeface="+mn-lt"/>
                <a:cs typeface="+mn-lt"/>
              </a:rPr>
              <a:t>You have the option to start a new test or export the final report for your records.</a:t>
            </a:r>
          </a:p>
          <a:p>
            <a:endParaRPr lang="en-US"/>
          </a:p>
        </p:txBody>
      </p:sp>
      <p:sp>
        <p:nvSpPr>
          <p:cNvPr id="4" name="Date Placeholder 3">
            <a:extLst>
              <a:ext uri="{FF2B5EF4-FFF2-40B4-BE49-F238E27FC236}">
                <a16:creationId xmlns:a16="http://schemas.microsoft.com/office/drawing/2014/main" id="{44D12D4C-4477-DB9F-F877-3296C69725EE}"/>
              </a:ext>
            </a:extLst>
          </p:cNvPr>
          <p:cNvSpPr>
            <a:spLocks noGrp="1"/>
          </p:cNvSpPr>
          <p:nvPr>
            <p:ph type="dt" sz="half" idx="10"/>
          </p:nvPr>
        </p:nvSpPr>
        <p:spPr/>
        <p:txBody>
          <a:bodyPr/>
          <a:lstStyle/>
          <a:p>
            <a:fld id="{28526794-B653-4910-B969-A5EB662E4ABF}" type="datetime1">
              <a:rPr lang="en-US"/>
              <a:t>3/11/2026</a:t>
            </a:fld>
            <a:endParaRPr lang="en-US"/>
          </a:p>
        </p:txBody>
      </p:sp>
      <p:sp>
        <p:nvSpPr>
          <p:cNvPr id="5" name="Footer Placeholder 4">
            <a:extLst>
              <a:ext uri="{FF2B5EF4-FFF2-40B4-BE49-F238E27FC236}">
                <a16:creationId xmlns:a16="http://schemas.microsoft.com/office/drawing/2014/main" id="{C311C909-A348-75D0-0049-4A9F385A4DA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A9943B-ABB3-AD13-CBDB-40E67CA887DD}"/>
              </a:ext>
            </a:extLst>
          </p:cNvPr>
          <p:cNvSpPr>
            <a:spLocks noGrp="1"/>
          </p:cNvSpPr>
          <p:nvPr>
            <p:ph type="sldNum" sz="quarter" idx="12"/>
          </p:nvPr>
        </p:nvSpPr>
        <p:spPr/>
        <p:txBody>
          <a:bodyPr/>
          <a:lstStyle/>
          <a:p>
            <a:fld id="{196A61CA-0502-4EE4-9724-96EA822543E5}" type="slidenum">
              <a:rPr lang="en-US" dirty="0"/>
              <a:t>10</a:t>
            </a:fld>
            <a:endParaRPr lang="en-US"/>
          </a:p>
        </p:txBody>
      </p:sp>
      <p:pic>
        <p:nvPicPr>
          <p:cNvPr id="7" name="Picture 6" descr="A screenshot of a computer&#10;&#10;AI-generated content may be incorrect.">
            <a:extLst>
              <a:ext uri="{FF2B5EF4-FFF2-40B4-BE49-F238E27FC236}">
                <a16:creationId xmlns:a16="http://schemas.microsoft.com/office/drawing/2014/main" id="{2B72543A-B426-AD0D-6FEE-37640B76FCFA}"/>
              </a:ext>
            </a:extLst>
          </p:cNvPr>
          <p:cNvPicPr>
            <a:picLocks noChangeAspect="1"/>
          </p:cNvPicPr>
          <p:nvPr/>
        </p:nvPicPr>
        <p:blipFill>
          <a:blip r:embed="rId2"/>
          <a:stretch>
            <a:fillRect/>
          </a:stretch>
        </p:blipFill>
        <p:spPr>
          <a:xfrm>
            <a:off x="244415" y="2517710"/>
            <a:ext cx="4586378" cy="3059030"/>
          </a:xfrm>
          <a:prstGeom prst="rect">
            <a:avLst/>
          </a:prstGeom>
        </p:spPr>
      </p:pic>
    </p:spTree>
    <p:extLst>
      <p:ext uri="{BB962C8B-B14F-4D97-AF65-F5344CB8AC3E}">
        <p14:creationId xmlns:p14="http://schemas.microsoft.com/office/powerpoint/2010/main" val="2209202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A8C2A-2FAA-DF63-5380-F04F85BAA8E4}"/>
              </a:ext>
            </a:extLst>
          </p:cNvPr>
          <p:cNvSpPr>
            <a:spLocks noGrp="1"/>
          </p:cNvSpPr>
          <p:nvPr>
            <p:ph type="title"/>
          </p:nvPr>
        </p:nvSpPr>
        <p:spPr>
          <a:xfrm>
            <a:off x="891684" y="574798"/>
            <a:ext cx="9238434" cy="857559"/>
          </a:xfrm>
        </p:spPr>
        <p:txBody>
          <a:bodyPr/>
          <a:lstStyle/>
          <a:p>
            <a:r>
              <a:rPr lang="en-US"/>
              <a:t>Backend -</a:t>
            </a:r>
            <a:r>
              <a:rPr lang="en-US" sz="2200" b="0">
                <a:ea typeface="+mj-lt"/>
                <a:cs typeface="+mj-lt"/>
              </a:rPr>
              <a:t>Static Rule-Based Analysis Engine</a:t>
            </a:r>
            <a:endParaRPr lang="en-US" sz="2200"/>
          </a:p>
        </p:txBody>
      </p:sp>
      <p:sp>
        <p:nvSpPr>
          <p:cNvPr id="3" name="Content Placeholder 2">
            <a:extLst>
              <a:ext uri="{FF2B5EF4-FFF2-40B4-BE49-F238E27FC236}">
                <a16:creationId xmlns:a16="http://schemas.microsoft.com/office/drawing/2014/main" id="{A3526ABE-8043-E3EC-4F1D-1E66B311F4C9}"/>
              </a:ext>
            </a:extLst>
          </p:cNvPr>
          <p:cNvSpPr>
            <a:spLocks noGrp="1"/>
          </p:cNvSpPr>
          <p:nvPr>
            <p:ph idx="1"/>
          </p:nvPr>
        </p:nvSpPr>
        <p:spPr>
          <a:xfrm>
            <a:off x="723596" y="1535206"/>
            <a:ext cx="9944404" cy="5087470"/>
          </a:xfrm>
        </p:spPr>
        <p:txBody>
          <a:bodyPr vert="horz" lIns="91440" tIns="45720" rIns="91440" bIns="45720" rtlCol="0" anchor="t">
            <a:normAutofit fontScale="85000" lnSpcReduction="20000"/>
          </a:bodyPr>
          <a:lstStyle/>
          <a:p>
            <a:pPr marL="0" indent="0">
              <a:buNone/>
            </a:pPr>
            <a:r>
              <a:rPr lang="en-US">
                <a:ea typeface="+mn-lt"/>
                <a:cs typeface="+mn-lt"/>
              </a:rPr>
              <a:t>The core component of the backend is the </a:t>
            </a:r>
            <a:r>
              <a:rPr lang="en-US" b="1">
                <a:ea typeface="+mn-lt"/>
                <a:cs typeface="+mn-lt"/>
              </a:rPr>
              <a:t>Static Analysis Engine</a:t>
            </a:r>
            <a:r>
              <a:rPr lang="en-US">
                <a:ea typeface="+mn-lt"/>
                <a:cs typeface="+mn-lt"/>
              </a:rPr>
              <a:t>.</a:t>
            </a:r>
            <a:endParaRPr lang="en-US"/>
          </a:p>
          <a:p>
            <a:pPr marL="0" indent="0">
              <a:buNone/>
            </a:pPr>
            <a:r>
              <a:rPr lang="en-US">
                <a:ea typeface="+mn-lt"/>
                <a:cs typeface="+mn-lt"/>
              </a:rPr>
              <a:t>Key capabilities:</a:t>
            </a:r>
            <a:endParaRPr lang="en-US"/>
          </a:p>
          <a:p>
            <a:pPr marL="0" indent="0">
              <a:buNone/>
            </a:pPr>
            <a:r>
              <a:rPr lang="en-US">
                <a:ea typeface="+mn-lt"/>
                <a:cs typeface="+mn-lt"/>
              </a:rPr>
              <a:t>• Executes </a:t>
            </a:r>
            <a:r>
              <a:rPr lang="en-US" b="1">
                <a:ea typeface="+mn-lt"/>
                <a:cs typeface="+mn-lt"/>
              </a:rPr>
              <a:t>56 static analysis rules</a:t>
            </a:r>
            <a:br>
              <a:rPr lang="en-US" b="1">
                <a:ea typeface="+mn-lt"/>
                <a:cs typeface="+mn-lt"/>
              </a:rPr>
            </a:br>
            <a:r>
              <a:rPr lang="en-US" b="1">
                <a:ea typeface="+mn-lt"/>
                <a:cs typeface="+mn-lt"/>
              </a:rPr>
              <a:t> • Scans all project files and perform each file code line by line</a:t>
            </a:r>
            <a:br>
              <a:rPr lang="en-US" b="1">
                <a:ea typeface="+mn-lt"/>
                <a:cs typeface="+mn-lt"/>
              </a:rPr>
            </a:br>
            <a:r>
              <a:rPr lang="en-US" b="1">
                <a:ea typeface="+mn-lt"/>
                <a:cs typeface="+mn-lt"/>
              </a:rPr>
              <a:t> • Detects security vulnerabilities, architectural issues, and missing AI capabilities</a:t>
            </a:r>
            <a:br>
              <a:rPr lang="en-US" b="1">
                <a:ea typeface="+mn-lt"/>
                <a:cs typeface="+mn-lt"/>
              </a:rPr>
            </a:br>
            <a:r>
              <a:rPr lang="en-US" b="1">
                <a:ea typeface="+mn-lt"/>
                <a:cs typeface="+mn-lt"/>
              </a:rPr>
              <a:t> • Identifies infrastructure readiness for AI integration</a:t>
            </a:r>
            <a:endParaRPr lang="en-US"/>
          </a:p>
          <a:p>
            <a:pPr marL="0" indent="0">
              <a:buNone/>
            </a:pPr>
            <a:r>
              <a:rPr lang="en-US">
                <a:ea typeface="+mn-lt"/>
                <a:cs typeface="+mn-lt"/>
              </a:rPr>
              <a:t>Rule categories include:</a:t>
            </a:r>
            <a:endParaRPr lang="en-US"/>
          </a:p>
          <a:p>
            <a:pPr marL="0" indent="0">
              <a:buNone/>
            </a:pPr>
            <a:r>
              <a:rPr lang="en-US">
                <a:ea typeface="+mn-lt"/>
                <a:cs typeface="+mn-lt"/>
              </a:rPr>
              <a:t>• Security and authentication</a:t>
            </a:r>
            <a:br>
              <a:rPr lang="en-US">
                <a:ea typeface="+mn-lt"/>
                <a:cs typeface="+mn-lt"/>
              </a:rPr>
            </a:br>
            <a:r>
              <a:rPr lang="en-US">
                <a:ea typeface="+mn-lt"/>
                <a:cs typeface="+mn-lt"/>
              </a:rPr>
              <a:t> • Data protection</a:t>
            </a:r>
            <a:br>
              <a:rPr lang="en-US">
                <a:ea typeface="+mn-lt"/>
                <a:cs typeface="+mn-lt"/>
              </a:rPr>
            </a:br>
            <a:r>
              <a:rPr lang="en-US">
                <a:ea typeface="+mn-lt"/>
                <a:cs typeface="+mn-lt"/>
              </a:rPr>
              <a:t> • API design quality</a:t>
            </a:r>
            <a:br>
              <a:rPr lang="en-US">
                <a:ea typeface="+mn-lt"/>
                <a:cs typeface="+mn-lt"/>
              </a:rPr>
            </a:br>
            <a:r>
              <a:rPr lang="en-US">
                <a:ea typeface="+mn-lt"/>
                <a:cs typeface="+mn-lt"/>
              </a:rPr>
              <a:t> • Infrastructure readiness</a:t>
            </a:r>
            <a:br>
              <a:rPr lang="en-US">
                <a:ea typeface="+mn-lt"/>
                <a:cs typeface="+mn-lt"/>
              </a:rPr>
            </a:br>
            <a:r>
              <a:rPr lang="en-US">
                <a:ea typeface="+mn-lt"/>
                <a:cs typeface="+mn-lt"/>
              </a:rPr>
              <a:t> • Code quality</a:t>
            </a:r>
            <a:br>
              <a:rPr lang="en-US">
                <a:ea typeface="+mn-lt"/>
                <a:cs typeface="+mn-lt"/>
              </a:rPr>
            </a:br>
            <a:r>
              <a:rPr lang="en-US">
                <a:ea typeface="+mn-lt"/>
                <a:cs typeface="+mn-lt"/>
              </a:rPr>
              <a:t> • AI/ML readiness</a:t>
            </a:r>
            <a:br>
              <a:rPr lang="en-US">
                <a:ea typeface="+mn-lt"/>
                <a:cs typeface="+mn-lt"/>
              </a:rPr>
            </a:br>
            <a:r>
              <a:rPr lang="en-US">
                <a:ea typeface="+mn-lt"/>
                <a:cs typeface="+mn-lt"/>
              </a:rPr>
              <a:t> • Performance optimization</a:t>
            </a:r>
            <a:br>
              <a:rPr lang="en-US">
                <a:ea typeface="+mn-lt"/>
                <a:cs typeface="+mn-lt"/>
              </a:rPr>
            </a:br>
            <a:r>
              <a:rPr lang="en-US">
                <a:ea typeface="+mn-lt"/>
                <a:cs typeface="+mn-lt"/>
              </a:rPr>
              <a:t> • Compliance and logging</a:t>
            </a:r>
            <a:endParaRPr lang="en-US"/>
          </a:p>
          <a:p>
            <a:pPr marL="0" indent="0">
              <a:buNone/>
            </a:pPr>
            <a:r>
              <a:rPr lang="en-US">
                <a:ea typeface="+mn-lt"/>
                <a:cs typeface="+mn-lt"/>
              </a:rPr>
              <a:t>This static-rule based engine ensures </a:t>
            </a:r>
            <a:r>
              <a:rPr lang="en-US" b="1">
                <a:ea typeface="+mn-lt"/>
                <a:cs typeface="+mn-lt"/>
              </a:rPr>
              <a:t>consistent and scalable project evaluation</a:t>
            </a:r>
            <a:r>
              <a:rPr lang="en-US">
                <a:ea typeface="+mn-lt"/>
                <a:cs typeface="+mn-lt"/>
              </a:rPr>
              <a:t>. </a:t>
            </a:r>
            <a:endParaRPr lang="en-US"/>
          </a:p>
          <a:p>
            <a:endParaRPr lang="en-US"/>
          </a:p>
        </p:txBody>
      </p:sp>
      <p:sp>
        <p:nvSpPr>
          <p:cNvPr id="4" name="Date Placeholder 3">
            <a:extLst>
              <a:ext uri="{FF2B5EF4-FFF2-40B4-BE49-F238E27FC236}">
                <a16:creationId xmlns:a16="http://schemas.microsoft.com/office/drawing/2014/main" id="{ECF858A6-874A-FBDA-8237-C2EB753756CB}"/>
              </a:ext>
            </a:extLst>
          </p:cNvPr>
          <p:cNvSpPr>
            <a:spLocks noGrp="1"/>
          </p:cNvSpPr>
          <p:nvPr>
            <p:ph type="dt" sz="half" idx="10"/>
          </p:nvPr>
        </p:nvSpPr>
        <p:spPr/>
        <p:txBody>
          <a:bodyPr/>
          <a:lstStyle/>
          <a:p>
            <a:fld id="{EC697CEC-641E-41FC-A46F-50B8E7246071}" type="datetime1">
              <a:t>3/11/2026</a:t>
            </a:fld>
            <a:endParaRPr lang="en-US"/>
          </a:p>
        </p:txBody>
      </p:sp>
      <p:sp>
        <p:nvSpPr>
          <p:cNvPr id="5" name="Footer Placeholder 4">
            <a:extLst>
              <a:ext uri="{FF2B5EF4-FFF2-40B4-BE49-F238E27FC236}">
                <a16:creationId xmlns:a16="http://schemas.microsoft.com/office/drawing/2014/main" id="{87C95992-FCB9-87B4-698D-755D656D7FF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5BDF52F-1A21-DDE6-3C4D-DFA523CCB5B7}"/>
              </a:ext>
            </a:extLst>
          </p:cNvPr>
          <p:cNvSpPr>
            <a:spLocks noGrp="1"/>
          </p:cNvSpPr>
          <p:nvPr>
            <p:ph type="sldNum" sz="quarter" idx="12"/>
          </p:nvPr>
        </p:nvSpPr>
        <p:spPr/>
        <p:txBody>
          <a:bodyPr/>
          <a:lstStyle/>
          <a:p>
            <a:fld id="{196A61CA-0502-4EE4-9724-96EA822543E5}" type="slidenum">
              <a:rPr lang="en-US" dirty="0"/>
              <a:t>11</a:t>
            </a:fld>
            <a:endParaRPr lang="en-US"/>
          </a:p>
        </p:txBody>
      </p:sp>
    </p:spTree>
    <p:extLst>
      <p:ext uri="{BB962C8B-B14F-4D97-AF65-F5344CB8AC3E}">
        <p14:creationId xmlns:p14="http://schemas.microsoft.com/office/powerpoint/2010/main" val="213315654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3DEA8D-206A-F043-4EFE-3B8CAFA60A18}"/>
              </a:ext>
            </a:extLst>
          </p:cNvPr>
          <p:cNvSpPr>
            <a:spLocks noGrp="1"/>
          </p:cNvSpPr>
          <p:nvPr>
            <p:ph idx="1"/>
          </p:nvPr>
        </p:nvSpPr>
        <p:spPr>
          <a:xfrm>
            <a:off x="-488" y="0"/>
            <a:ext cx="12119419" cy="6857999"/>
          </a:xfrm>
        </p:spPr>
        <p:txBody>
          <a:bodyPr vert="horz" lIns="91440" tIns="45720" rIns="91440" bIns="45720" rtlCol="0" anchor="t">
            <a:normAutofit/>
          </a:bodyPr>
          <a:lstStyle/>
          <a:p>
            <a:endParaRPr lang="en-US" sz="1100">
              <a:solidFill>
                <a:srgbClr val="89DDFF"/>
              </a:solidFill>
              <a:highlight>
                <a:srgbClr val="1A1B26"/>
              </a:highlight>
              <a:latin typeface="Consolas"/>
            </a:endParaRPr>
          </a:p>
          <a:p>
            <a:pPr marL="0" indent="0" algn="ctr">
              <a:buNone/>
            </a:pPr>
            <a:r>
              <a:rPr lang="en-US" sz="3200" b="1" dirty="0">
                <a:highlight>
                  <a:srgbClr val="1A1B26"/>
                </a:highlight>
                <a:latin typeface="Consolas"/>
              </a:rPr>
              <a:t>How rule works?</a:t>
            </a:r>
          </a:p>
          <a:p>
            <a:endParaRPr lang="en-US" sz="1100">
              <a:solidFill>
                <a:srgbClr val="89DDFF"/>
              </a:solidFill>
              <a:highlight>
                <a:srgbClr val="1A1B26"/>
              </a:highlight>
              <a:latin typeface="Consolas"/>
            </a:endParaRPr>
          </a:p>
          <a:p>
            <a:r>
              <a:rPr lang="en-US" sz="1100" dirty="0">
                <a:highlight>
                  <a:srgbClr val="1A1B26"/>
                </a:highlight>
                <a:latin typeface="Consolas"/>
              </a:rPr>
              <a:t>STEP 1: Rule is DECLARED as a dictionary with patterns</a:t>
            </a:r>
            <a:endParaRPr lang="en-US" dirty="0"/>
          </a:p>
          <a:p>
            <a:r>
              <a:rPr lang="en-US" sz="1100" dirty="0">
                <a:highlight>
                  <a:srgbClr val="1A1B26"/>
                </a:highlight>
                <a:latin typeface="Consolas"/>
              </a:rPr>
              <a:t>STEP 2: User UPLOADS a ZIP file</a:t>
            </a:r>
            <a:endParaRPr lang="en-US" dirty="0"/>
          </a:p>
          <a:p>
            <a:r>
              <a:rPr lang="en-US" sz="1100" dirty="0">
                <a:highlight>
                  <a:srgbClr val="1A1B26"/>
                </a:highlight>
                <a:latin typeface="Consolas"/>
              </a:rPr>
              <a:t>STEP 3: Scanner EXTRACTS all text files</a:t>
            </a:r>
            <a:endParaRPr lang="en-US" dirty="0"/>
          </a:p>
          <a:p>
            <a:r>
              <a:rPr lang="en-US" sz="1100" dirty="0">
                <a:highlight>
                  <a:srgbClr val="1A1B26"/>
                </a:highlight>
                <a:latin typeface="Consolas"/>
              </a:rPr>
              <a:t>STEP 4: For EACH file, for EACH line, for EACH patterns:</a:t>
            </a:r>
            <a:endParaRPr lang="en-US" dirty="0"/>
          </a:p>
          <a:p>
            <a:pPr marL="0" indent="0">
              <a:buNone/>
            </a:pPr>
            <a:r>
              <a:rPr lang="en-US" sz="1100" dirty="0">
                <a:highlight>
                  <a:srgbClr val="1A1B26"/>
                </a:highlight>
                <a:latin typeface="Consolas"/>
              </a:rPr>
              <a:t>    -------&gt;Does </a:t>
            </a:r>
            <a:r>
              <a:rPr lang="en-US" sz="1100" dirty="0" err="1">
                <a:highlight>
                  <a:srgbClr val="1A1B26"/>
                </a:highlight>
                <a:latin typeface="Consolas"/>
              </a:rPr>
              <a:t>re.search</a:t>
            </a:r>
            <a:r>
              <a:rPr lang="en-US" sz="1100" dirty="0">
                <a:highlight>
                  <a:srgbClr val="1A1B26"/>
                </a:highlight>
                <a:latin typeface="Consolas"/>
              </a:rPr>
              <a:t>(pattern, line) find a match?</a:t>
            </a:r>
            <a:endParaRPr lang="en-US" dirty="0"/>
          </a:p>
          <a:p>
            <a:pPr marL="0" indent="0">
              <a:buNone/>
            </a:pPr>
            <a:r>
              <a:rPr lang="en-US" sz="1100" dirty="0">
                <a:highlight>
                  <a:srgbClr val="1A1B26"/>
                </a:highlight>
                <a:latin typeface="Consolas"/>
              </a:rPr>
              <a:t>    -------&gt;YES -&gt; save it as evidence</a:t>
            </a:r>
            <a:endParaRPr lang="en-US" dirty="0"/>
          </a:p>
          <a:p>
            <a:pPr marL="0" indent="0">
              <a:buNone/>
            </a:pPr>
            <a:r>
              <a:rPr lang="en-US" sz="1100" dirty="0">
                <a:highlight>
                  <a:srgbClr val="1A1B26"/>
                </a:highlight>
                <a:latin typeface="Consolas"/>
              </a:rPr>
              <a:t>    -------&gt;NO  -&gt; check next pattern</a:t>
            </a:r>
            <a:endParaRPr lang="en-US" dirty="0"/>
          </a:p>
          <a:p>
            <a:r>
              <a:rPr lang="en-US" sz="1100" dirty="0">
                <a:highlight>
                  <a:srgbClr val="1A1B26"/>
                </a:highlight>
                <a:latin typeface="Consolas"/>
              </a:rPr>
              <a:t>STEP 5: After all files scanned:</a:t>
            </a:r>
            <a:endParaRPr lang="en-US" dirty="0"/>
          </a:p>
          <a:p>
            <a:pPr marL="0" indent="0">
              <a:buNone/>
            </a:pPr>
            <a:r>
              <a:rPr lang="en-US" sz="1100" dirty="0">
                <a:highlight>
                  <a:srgbClr val="1A1B26"/>
                </a:highlight>
                <a:latin typeface="Consolas"/>
              </a:rPr>
              <a:t>         Any evidence found?</a:t>
            </a:r>
          </a:p>
          <a:p>
            <a:pPr marL="0" indent="0">
              <a:buNone/>
            </a:pPr>
            <a:r>
              <a:rPr lang="en-US" sz="1100" dirty="0">
                <a:highlight>
                  <a:srgbClr val="1A1B26"/>
                </a:highlight>
                <a:latin typeface="Consolas"/>
              </a:rPr>
              <a:t>         YES -&gt; Rule PASSED -&gt; scores are updated</a:t>
            </a:r>
            <a:endParaRPr lang="en-US" dirty="0"/>
          </a:p>
          <a:p>
            <a:pPr marL="0" indent="0">
              <a:buNone/>
            </a:pPr>
            <a:r>
              <a:rPr lang="en-US" sz="1100" dirty="0">
                <a:highlight>
                  <a:srgbClr val="1A1B26"/>
                </a:highlight>
                <a:latin typeface="Consolas"/>
              </a:rPr>
              <a:t>          NO  -&gt; Rule FAILED -&gt; 0 points + risk + blocker</a:t>
            </a:r>
            <a:endParaRPr lang="en-US" dirty="0"/>
          </a:p>
          <a:p>
            <a:r>
              <a:rPr lang="en-US" sz="1100" dirty="0">
                <a:highlight>
                  <a:srgbClr val="1A1B26"/>
                </a:highlight>
                <a:latin typeface="Consolas"/>
              </a:rPr>
              <a:t>STEP 6: This rule's points feed into the total score:</a:t>
            </a:r>
            <a:endParaRPr lang="en-US" dirty="0"/>
          </a:p>
          <a:p>
            <a:pPr marL="0" indent="0">
              <a:buNone/>
            </a:pPr>
            <a:r>
              <a:rPr lang="en-US" sz="1100" dirty="0">
                <a:highlight>
                  <a:srgbClr val="1A1B26"/>
                </a:highlight>
                <a:latin typeface="Consolas"/>
              </a:rPr>
              <a:t>         Static Score = (total earned / total points declared(included all rules) ) x 100</a:t>
            </a:r>
            <a:endParaRPr lang="en-US" dirty="0"/>
          </a:p>
          <a:p>
            <a:endParaRPr lang="en-US"/>
          </a:p>
        </p:txBody>
      </p:sp>
      <p:sp>
        <p:nvSpPr>
          <p:cNvPr id="4" name="Date Placeholder 3">
            <a:extLst>
              <a:ext uri="{FF2B5EF4-FFF2-40B4-BE49-F238E27FC236}">
                <a16:creationId xmlns:a16="http://schemas.microsoft.com/office/drawing/2014/main" id="{19A88C51-3161-4FDE-0561-B4059019322D}"/>
              </a:ext>
            </a:extLst>
          </p:cNvPr>
          <p:cNvSpPr>
            <a:spLocks noGrp="1"/>
          </p:cNvSpPr>
          <p:nvPr>
            <p:ph type="dt" sz="half" idx="10"/>
          </p:nvPr>
        </p:nvSpPr>
        <p:spPr/>
        <p:txBody>
          <a:bodyPr/>
          <a:lstStyle/>
          <a:p>
            <a:fld id="{2BB3871C-5161-49A6-8A6A-8C6CB925DAD8}" type="datetime1">
              <a:rPr lang="en-US"/>
              <a:t>3/11/2026</a:t>
            </a:fld>
            <a:endParaRPr lang="en-US"/>
          </a:p>
        </p:txBody>
      </p:sp>
      <p:sp>
        <p:nvSpPr>
          <p:cNvPr id="5" name="Footer Placeholder 4">
            <a:extLst>
              <a:ext uri="{FF2B5EF4-FFF2-40B4-BE49-F238E27FC236}">
                <a16:creationId xmlns:a16="http://schemas.microsoft.com/office/drawing/2014/main" id="{8D5A4A5A-C061-4C5E-EB8C-9A065C00C3C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DE5CB1F-C68B-831F-A336-1A7DA1B38AE3}"/>
              </a:ext>
            </a:extLst>
          </p:cNvPr>
          <p:cNvSpPr>
            <a:spLocks noGrp="1"/>
          </p:cNvSpPr>
          <p:nvPr>
            <p:ph type="sldNum" sz="quarter" idx="12"/>
          </p:nvPr>
        </p:nvSpPr>
        <p:spPr/>
        <p:txBody>
          <a:bodyPr/>
          <a:lstStyle/>
          <a:p>
            <a:fld id="{196A61CA-0502-4EE4-9724-96EA822543E5}" type="slidenum">
              <a:rPr lang="en-US" dirty="0"/>
              <a:t>12</a:t>
            </a:fld>
            <a:endParaRPr lang="en-US"/>
          </a:p>
        </p:txBody>
      </p:sp>
    </p:spTree>
    <p:extLst>
      <p:ext uri="{BB962C8B-B14F-4D97-AF65-F5344CB8AC3E}">
        <p14:creationId xmlns:p14="http://schemas.microsoft.com/office/powerpoint/2010/main" val="421720557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9575AA-59C4-C554-2DE5-67C3B459368D}"/>
              </a:ext>
            </a:extLst>
          </p:cNvPr>
          <p:cNvSpPr>
            <a:spLocks noGrp="1"/>
          </p:cNvSpPr>
          <p:nvPr>
            <p:ph idx="1"/>
          </p:nvPr>
        </p:nvSpPr>
        <p:spPr>
          <a:xfrm>
            <a:off x="-488" y="1"/>
            <a:ext cx="12182049" cy="6857998"/>
          </a:xfrm>
        </p:spPr>
        <p:txBody>
          <a:bodyPr vert="horz" lIns="91440" tIns="45720" rIns="91440" bIns="45720" rtlCol="0" anchor="t">
            <a:normAutofit/>
          </a:bodyPr>
          <a:lstStyle/>
          <a:p>
            <a:pPr marL="0" indent="0" algn="ctr">
              <a:lnSpc>
                <a:spcPct val="110000"/>
              </a:lnSpc>
              <a:buNone/>
            </a:pPr>
            <a:r>
              <a:rPr lang="en-US" sz="3600">
                <a:highlight>
                  <a:srgbClr val="1A1B26"/>
                </a:highlight>
                <a:latin typeface="Consolas"/>
              </a:rPr>
              <a:t>How rule declared?</a:t>
            </a:r>
            <a:endParaRPr lang="en-US" sz="3600"/>
          </a:p>
          <a:p>
            <a:pPr marL="0" indent="0">
              <a:lnSpc>
                <a:spcPct val="110000"/>
              </a:lnSpc>
              <a:buNone/>
            </a:pPr>
            <a:r>
              <a:rPr lang="en-US" sz="1100">
                <a:solidFill>
                  <a:srgbClr val="FF9E64"/>
                </a:solidFill>
                <a:highlight>
                  <a:srgbClr val="1A1B26"/>
                </a:highlight>
                <a:latin typeface="Consolas"/>
              </a:rPr>
              <a:t>RULES</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endParaRPr lang="en-US"/>
          </a:p>
          <a:p>
            <a:pPr marL="0" indent="0">
              <a:lnSpc>
                <a:spcPct val="110000"/>
              </a:lnSpc>
              <a:buNone/>
            </a:pPr>
            <a:r>
              <a:rPr lang="en-US" sz="1100">
                <a:solidFill>
                  <a:srgbClr val="C0CAF5"/>
                </a:solidFill>
                <a:highlight>
                  <a:srgbClr val="1A1B26"/>
                </a:highlight>
                <a:latin typeface="Consolas"/>
              </a:rPr>
              <a:t>    </a:t>
            </a:r>
            <a:r>
              <a:rPr lang="en-US" sz="1100">
                <a:solidFill>
                  <a:srgbClr val="9ECE6A"/>
                </a:solidFill>
                <a:highlight>
                  <a:srgbClr val="1A1B26"/>
                </a:highlight>
                <a:latin typeface="Consolas"/>
              </a:rPr>
              <a:t>R01</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endParaRPr lang="en-US"/>
          </a:p>
          <a:p>
            <a:pPr marL="0" indent="0">
              <a:lnSpc>
                <a:spcPct val="110000"/>
              </a:lnSpc>
              <a:buNone/>
            </a:pP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name</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JWT / Token Auth</a:t>
            </a:r>
            <a:r>
              <a:rPr lang="en-US" sz="1100">
                <a:solidFill>
                  <a:srgbClr val="89DDFF"/>
                </a:solidFill>
                <a:highlight>
                  <a:srgbClr val="1A1B26"/>
                </a:highlight>
                <a:latin typeface="Consolas"/>
              </a:rPr>
              <a:t>",</a:t>
            </a:r>
            <a:endParaRPr lang="en-US"/>
          </a:p>
          <a:p>
            <a:pPr marL="0" indent="0">
              <a:lnSpc>
                <a:spcPct val="110000"/>
              </a:lnSpc>
              <a:buNone/>
            </a:pP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category</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Security &amp; Auth</a:t>
            </a:r>
            <a:r>
              <a:rPr lang="en-US" sz="1100">
                <a:solidFill>
                  <a:srgbClr val="89DDFF"/>
                </a:solidFill>
                <a:highlight>
                  <a:srgbClr val="1A1B26"/>
                </a:highlight>
                <a:latin typeface="Consolas"/>
              </a:rPr>
              <a:t>",</a:t>
            </a:r>
            <a:endParaRPr lang="en-US"/>
          </a:p>
          <a:p>
            <a:pPr marL="0" indent="0">
              <a:lnSpc>
                <a:spcPct val="110000"/>
              </a:lnSpc>
              <a:buNone/>
            </a:pP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severity</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critical</a:t>
            </a:r>
            <a:r>
              <a:rPr lang="en-US" sz="1100">
                <a:solidFill>
                  <a:srgbClr val="89DDFF"/>
                </a:solidFill>
                <a:highlight>
                  <a:srgbClr val="1A1B26"/>
                </a:highlight>
                <a:latin typeface="Consolas"/>
              </a:rPr>
              <a:t>",</a:t>
            </a:r>
            <a:endParaRPr lang="en-US"/>
          </a:p>
          <a:p>
            <a:pPr marL="0" indent="0">
              <a:lnSpc>
                <a:spcPct val="110000"/>
              </a:lnSpc>
              <a:buNone/>
            </a:pP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err="1">
                <a:solidFill>
                  <a:srgbClr val="9ECE6A"/>
                </a:solidFill>
                <a:highlight>
                  <a:srgbClr val="1A1B26"/>
                </a:highlight>
                <a:latin typeface="Consolas"/>
              </a:rPr>
              <a:t>score_pts</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FF9E64"/>
                </a:solidFill>
                <a:highlight>
                  <a:srgbClr val="1A1B26"/>
                </a:highlight>
                <a:latin typeface="Consolas"/>
              </a:rPr>
              <a:t>8</a:t>
            </a:r>
            <a:r>
              <a:rPr lang="en-US" sz="1100">
                <a:solidFill>
                  <a:srgbClr val="89DDFF"/>
                </a:solidFill>
                <a:highlight>
                  <a:srgbClr val="1A1B26"/>
                </a:highlight>
                <a:latin typeface="Consolas"/>
              </a:rPr>
              <a:t>,</a:t>
            </a:r>
            <a:endParaRPr lang="en-US"/>
          </a:p>
          <a:p>
            <a:pPr marL="0" indent="0">
              <a:lnSpc>
                <a:spcPct val="110000"/>
              </a:lnSpc>
              <a:buNone/>
            </a:pP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err="1">
                <a:solidFill>
                  <a:srgbClr val="9ECE6A"/>
                </a:solidFill>
                <a:highlight>
                  <a:srgbClr val="1A1B26"/>
                </a:highlight>
                <a:latin typeface="Consolas"/>
              </a:rPr>
              <a:t>positive_patterns</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err="1">
                <a:solidFill>
                  <a:srgbClr val="BB9AF7"/>
                </a:solidFill>
                <a:highlight>
                  <a:srgbClr val="1A1B26"/>
                </a:highlight>
                <a:latin typeface="Consolas"/>
              </a:rPr>
              <a:t>r</a:t>
            </a:r>
            <a:r>
              <a:rPr lang="en-US" sz="1100" err="1">
                <a:solidFill>
                  <a:srgbClr val="89DDFF"/>
                </a:solidFill>
                <a:highlight>
                  <a:srgbClr val="1A1B26"/>
                </a:highlight>
                <a:latin typeface="Consolas"/>
              </a:rPr>
              <a:t>"</a:t>
            </a:r>
            <a:r>
              <a:rPr lang="en-US" sz="1100" err="1">
                <a:solidFill>
                  <a:srgbClr val="B4F9F8"/>
                </a:solidFill>
                <a:highlight>
                  <a:srgbClr val="1A1B26"/>
                </a:highlight>
                <a:latin typeface="Consolas"/>
              </a:rPr>
              <a:t>jwt</a:t>
            </a:r>
            <a:r>
              <a:rPr lang="en-US" sz="1100">
                <a:solidFill>
                  <a:srgbClr val="89DDFF"/>
                </a:solidFill>
                <a:highlight>
                  <a:srgbClr val="1A1B26"/>
                </a:highlight>
                <a:latin typeface="Consolas"/>
              </a:rPr>
              <a:t>\.",</a:t>
            </a:r>
            <a:r>
              <a:rPr lang="en-US" sz="1100">
                <a:solidFill>
                  <a:srgbClr val="BB9AF7"/>
                </a:solidFill>
                <a:highlight>
                  <a:srgbClr val="1A1B26"/>
                </a:highlight>
                <a:latin typeface="Consolas"/>
              </a:rPr>
              <a:t>r</a:t>
            </a:r>
            <a:r>
              <a:rPr lang="en-US" sz="1100">
                <a:solidFill>
                  <a:srgbClr val="89DDFF"/>
                </a:solidFill>
                <a:highlight>
                  <a:srgbClr val="1A1B26"/>
                </a:highlight>
                <a:latin typeface="Consolas"/>
              </a:rPr>
              <a:t>"</a:t>
            </a:r>
            <a:r>
              <a:rPr lang="en-US" sz="1100" err="1">
                <a:solidFill>
                  <a:srgbClr val="B4F9F8"/>
                </a:solidFill>
                <a:highlight>
                  <a:srgbClr val="1A1B26"/>
                </a:highlight>
                <a:latin typeface="Consolas"/>
              </a:rPr>
              <a:t>jsonwebtoken</a:t>
            </a:r>
            <a:r>
              <a:rPr lang="en-US" sz="1100">
                <a:solidFill>
                  <a:srgbClr val="89DDFF"/>
                </a:solidFill>
                <a:highlight>
                  <a:srgbClr val="1A1B26"/>
                </a:highlight>
                <a:latin typeface="Consolas"/>
              </a:rPr>
              <a:t>",</a:t>
            </a:r>
            <a:r>
              <a:rPr lang="en-US" sz="1100">
                <a:solidFill>
                  <a:srgbClr val="BB9AF7"/>
                </a:solidFill>
                <a:highlight>
                  <a:srgbClr val="1A1B26"/>
                </a:highlight>
                <a:latin typeface="Consolas"/>
              </a:rPr>
              <a:t>r</a:t>
            </a:r>
            <a:r>
              <a:rPr lang="en-US" sz="1100">
                <a:solidFill>
                  <a:srgbClr val="89DDFF"/>
                </a:solidFill>
                <a:highlight>
                  <a:srgbClr val="1A1B26"/>
                </a:highlight>
                <a:latin typeface="Consolas"/>
              </a:rPr>
              <a:t>"</a:t>
            </a:r>
            <a:r>
              <a:rPr lang="en-US" sz="1100">
                <a:solidFill>
                  <a:srgbClr val="B4F9F8"/>
                </a:solidFill>
                <a:highlight>
                  <a:srgbClr val="1A1B26"/>
                </a:highlight>
                <a:latin typeface="Consolas"/>
              </a:rPr>
              <a:t>python.</a:t>
            </a:r>
            <a:r>
              <a:rPr lang="en-US" sz="1100" err="1">
                <a:solidFill>
                  <a:srgbClr val="B4F9F8"/>
                </a:solidFill>
                <a:highlight>
                  <a:srgbClr val="1A1B26"/>
                </a:highlight>
                <a:latin typeface="Consolas"/>
              </a:rPr>
              <a:t>jose</a:t>
            </a:r>
            <a:r>
              <a:rPr lang="en-US" sz="1100">
                <a:solidFill>
                  <a:srgbClr val="89DDFF"/>
                </a:solidFill>
                <a:highlight>
                  <a:srgbClr val="1A1B26"/>
                </a:highlight>
                <a:latin typeface="Consolas"/>
              </a:rPr>
              <a:t>",</a:t>
            </a:r>
            <a:r>
              <a:rPr lang="en-US" sz="1100">
                <a:solidFill>
                  <a:srgbClr val="BB9AF7"/>
                </a:solidFill>
                <a:highlight>
                  <a:srgbClr val="1A1B26"/>
                </a:highlight>
                <a:latin typeface="Consolas"/>
              </a:rPr>
              <a:t>r</a:t>
            </a:r>
            <a:r>
              <a:rPr lang="en-US" sz="1100">
                <a:solidFill>
                  <a:srgbClr val="89DDFF"/>
                </a:solidFill>
                <a:highlight>
                  <a:srgbClr val="1A1B26"/>
                </a:highlight>
                <a:latin typeface="Consolas"/>
              </a:rPr>
              <a:t>"</a:t>
            </a:r>
            <a:r>
              <a:rPr lang="en-US" sz="1100" err="1">
                <a:solidFill>
                  <a:srgbClr val="B4F9F8"/>
                </a:solidFill>
                <a:highlight>
                  <a:srgbClr val="1A1B26"/>
                </a:highlight>
                <a:latin typeface="Consolas"/>
              </a:rPr>
              <a:t>PyJWT</a:t>
            </a:r>
            <a:r>
              <a:rPr lang="en-US" sz="1100">
                <a:solidFill>
                  <a:srgbClr val="89DDFF"/>
                </a:solidFill>
                <a:highlight>
                  <a:srgbClr val="1A1B26"/>
                </a:highlight>
                <a:latin typeface="Consolas"/>
              </a:rPr>
              <a:t>",</a:t>
            </a:r>
            <a:r>
              <a:rPr lang="en-US" sz="1100" err="1">
                <a:solidFill>
                  <a:srgbClr val="BB9AF7"/>
                </a:solidFill>
                <a:highlight>
                  <a:srgbClr val="1A1B26"/>
                </a:highlight>
                <a:latin typeface="Consolas"/>
              </a:rPr>
              <a:t>r</a:t>
            </a:r>
            <a:r>
              <a:rPr lang="en-US" sz="1100" err="1">
                <a:solidFill>
                  <a:srgbClr val="89DDFF"/>
                </a:solidFill>
                <a:highlight>
                  <a:srgbClr val="1A1B26"/>
                </a:highlight>
                <a:latin typeface="Consolas"/>
              </a:rPr>
              <a:t>"</a:t>
            </a:r>
            <a:r>
              <a:rPr lang="en-US" sz="1100" err="1">
                <a:solidFill>
                  <a:srgbClr val="B4F9F8"/>
                </a:solidFill>
                <a:highlight>
                  <a:srgbClr val="1A1B26"/>
                </a:highlight>
                <a:latin typeface="Consolas"/>
              </a:rPr>
              <a:t>bearer</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err="1">
                <a:solidFill>
                  <a:srgbClr val="BB9AF7"/>
                </a:solidFill>
                <a:highlight>
                  <a:srgbClr val="1A1B26"/>
                </a:highlight>
                <a:latin typeface="Consolas"/>
              </a:rPr>
              <a:t>r</a:t>
            </a:r>
            <a:r>
              <a:rPr lang="en-US" sz="1100" err="1">
                <a:solidFill>
                  <a:srgbClr val="89DDFF"/>
                </a:solidFill>
                <a:highlight>
                  <a:srgbClr val="1A1B26"/>
                </a:highlight>
                <a:latin typeface="Consolas"/>
              </a:rPr>
              <a:t>"</a:t>
            </a:r>
            <a:r>
              <a:rPr lang="en-US" sz="1100" err="1">
                <a:solidFill>
                  <a:srgbClr val="B4F9F8"/>
                </a:solidFill>
                <a:highlight>
                  <a:srgbClr val="1A1B26"/>
                </a:highlight>
                <a:latin typeface="Consolas"/>
              </a:rPr>
              <a:t>access_token</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BB9AF7"/>
                </a:solidFill>
                <a:highlight>
                  <a:srgbClr val="1A1B26"/>
                </a:highlight>
                <a:latin typeface="Consolas"/>
              </a:rPr>
              <a:t>r</a:t>
            </a:r>
            <a:r>
              <a:rPr lang="en-US" sz="1100">
                <a:solidFill>
                  <a:srgbClr val="89DDFF"/>
                </a:solidFill>
                <a:highlight>
                  <a:srgbClr val="1A1B26"/>
                </a:highlight>
                <a:latin typeface="Consolas"/>
              </a:rPr>
              <a:t>"</a:t>
            </a:r>
            <a:r>
              <a:rPr lang="en-US" sz="1100">
                <a:solidFill>
                  <a:srgbClr val="B4F9F8"/>
                </a:solidFill>
                <a:highlight>
                  <a:srgbClr val="1A1B26"/>
                </a:highlight>
                <a:latin typeface="Consolas"/>
              </a:rPr>
              <a:t>decode_token</a:t>
            </a:r>
            <a:r>
              <a:rPr lang="en-US" sz="1100">
                <a:solidFill>
                  <a:srgbClr val="89DDFF"/>
                </a:solidFill>
                <a:highlight>
                  <a:srgbClr val="1A1B26"/>
                </a:highlight>
                <a:latin typeface="Consolas"/>
              </a:rPr>
              <a:t>",</a:t>
            </a:r>
            <a:r>
              <a:rPr lang="en-US" sz="1100">
                <a:solidFill>
                  <a:srgbClr val="BB9AF7"/>
                </a:solidFill>
                <a:highlight>
                  <a:srgbClr val="1A1B26"/>
                </a:highlight>
                <a:latin typeface="Consolas"/>
              </a:rPr>
              <a:t>r</a:t>
            </a:r>
            <a:r>
              <a:rPr lang="en-US" sz="1100">
                <a:solidFill>
                  <a:srgbClr val="89DDFF"/>
                </a:solidFill>
                <a:highlight>
                  <a:srgbClr val="1A1B26"/>
                </a:highlight>
                <a:latin typeface="Consolas"/>
              </a:rPr>
              <a:t>"</a:t>
            </a:r>
            <a:r>
              <a:rPr lang="en-US" sz="1100">
                <a:solidFill>
                  <a:srgbClr val="B4F9F8"/>
                </a:solidFill>
                <a:highlight>
                  <a:srgbClr val="1A1B26"/>
                </a:highlight>
                <a:latin typeface="Consolas"/>
              </a:rPr>
              <a:t>verify_token</a:t>
            </a:r>
            <a:r>
              <a:rPr lang="en-US" sz="1100">
                <a:solidFill>
                  <a:srgbClr val="89DDFF"/>
                </a:solidFill>
                <a:highlight>
                  <a:srgbClr val="1A1B26"/>
                </a:highlight>
                <a:latin typeface="Consolas"/>
              </a:rPr>
              <a:t>",</a:t>
            </a:r>
            <a:r>
              <a:rPr lang="en-US" sz="1100">
                <a:solidFill>
                  <a:srgbClr val="BB9AF7"/>
                </a:solidFill>
                <a:highlight>
                  <a:srgbClr val="1A1B26"/>
                </a:highlight>
                <a:latin typeface="Consolas"/>
              </a:rPr>
              <a:t>r</a:t>
            </a:r>
            <a:r>
              <a:rPr lang="en-US" sz="1100">
                <a:solidFill>
                  <a:srgbClr val="89DDFF"/>
                </a:solidFill>
                <a:highlight>
                  <a:srgbClr val="1A1B26"/>
                </a:highlight>
                <a:latin typeface="Consolas"/>
              </a:rPr>
              <a:t>"</a:t>
            </a:r>
            <a:r>
              <a:rPr lang="en-US" sz="1100">
                <a:solidFill>
                  <a:srgbClr val="B4F9F8"/>
                </a:solidFill>
                <a:highlight>
                  <a:srgbClr val="1A1B26"/>
                </a:highlight>
                <a:latin typeface="Consolas"/>
              </a:rPr>
              <a:t>oauth2</a:t>
            </a:r>
            <a:r>
              <a:rPr lang="en-US" sz="1100">
                <a:solidFill>
                  <a:srgbClr val="89DDFF"/>
                </a:solidFill>
                <a:highlight>
                  <a:srgbClr val="1A1B26"/>
                </a:highlight>
                <a:latin typeface="Consolas"/>
              </a:rPr>
              <a:t>",</a:t>
            </a:r>
            <a:endParaRPr lang="en-US"/>
          </a:p>
          <a:p>
            <a:pPr marL="0" indent="0">
              <a:lnSpc>
                <a:spcPct val="110000"/>
              </a:lnSpc>
              <a:buNone/>
            </a:pPr>
            <a:r>
              <a:rPr lang="en-US" sz="1100">
                <a:solidFill>
                  <a:srgbClr val="C0CAF5"/>
                </a:solidFill>
                <a:highlight>
                  <a:srgbClr val="1A1B26"/>
                </a:highlight>
                <a:latin typeface="Consolas"/>
              </a:rPr>
              <a:t>            </a:t>
            </a:r>
            <a:r>
              <a:rPr lang="en-US" sz="1100">
                <a:solidFill>
                  <a:srgbClr val="BB9AF7"/>
                </a:solidFill>
                <a:highlight>
                  <a:srgbClr val="1A1B26"/>
                </a:highlight>
                <a:latin typeface="Consolas"/>
              </a:rPr>
              <a:t>r</a:t>
            </a:r>
            <a:r>
              <a:rPr lang="en-US" sz="1100">
                <a:solidFill>
                  <a:srgbClr val="89DDFF"/>
                </a:solidFill>
                <a:highlight>
                  <a:srgbClr val="1A1B26"/>
                </a:highlight>
                <a:latin typeface="Consolas"/>
              </a:rPr>
              <a:t>"</a:t>
            </a:r>
            <a:r>
              <a:rPr lang="en-US" sz="1100" err="1">
                <a:solidFill>
                  <a:srgbClr val="B4F9F8"/>
                </a:solidFill>
                <a:highlight>
                  <a:srgbClr val="1A1B26"/>
                </a:highlight>
                <a:latin typeface="Consolas"/>
              </a:rPr>
              <a:t>JWTBearer</a:t>
            </a:r>
            <a:r>
              <a:rPr lang="en-US" sz="1100">
                <a:solidFill>
                  <a:srgbClr val="89DDFF"/>
                </a:solidFill>
                <a:highlight>
                  <a:srgbClr val="1A1B26"/>
                </a:highlight>
                <a:latin typeface="Consolas"/>
              </a:rPr>
              <a:t>",</a:t>
            </a:r>
            <a:r>
              <a:rPr lang="en-US" sz="1100" err="1">
                <a:solidFill>
                  <a:srgbClr val="BB9AF7"/>
                </a:solidFill>
                <a:highlight>
                  <a:srgbClr val="1A1B26"/>
                </a:highlight>
                <a:latin typeface="Consolas"/>
              </a:rPr>
              <a:t>r</a:t>
            </a:r>
            <a:r>
              <a:rPr lang="en-US" sz="1100" err="1">
                <a:solidFill>
                  <a:srgbClr val="89DDFF"/>
                </a:solidFill>
                <a:highlight>
                  <a:srgbClr val="1A1B26"/>
                </a:highlight>
                <a:latin typeface="Consolas"/>
              </a:rPr>
              <a:t>"</a:t>
            </a:r>
            <a:r>
              <a:rPr lang="en-US" sz="1100" err="1">
                <a:solidFill>
                  <a:srgbClr val="B4F9F8"/>
                </a:solidFill>
                <a:highlight>
                  <a:srgbClr val="1A1B26"/>
                </a:highlight>
                <a:latin typeface="Consolas"/>
              </a:rPr>
              <a:t>HTTPBearer</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err="1">
                <a:solidFill>
                  <a:srgbClr val="BB9AF7"/>
                </a:solidFill>
                <a:highlight>
                  <a:srgbClr val="1A1B26"/>
                </a:highlight>
                <a:latin typeface="Consolas"/>
              </a:rPr>
              <a:t>r</a:t>
            </a:r>
            <a:r>
              <a:rPr lang="en-US" sz="1100" err="1">
                <a:solidFill>
                  <a:srgbClr val="89DDFF"/>
                </a:solidFill>
                <a:highlight>
                  <a:srgbClr val="1A1B26"/>
                </a:highlight>
                <a:latin typeface="Consolas"/>
              </a:rPr>
              <a:t>"</a:t>
            </a:r>
            <a:r>
              <a:rPr lang="en-US" sz="1100" err="1">
                <a:solidFill>
                  <a:srgbClr val="B4F9F8"/>
                </a:solidFill>
                <a:highlight>
                  <a:srgbClr val="1A1B26"/>
                </a:highlight>
                <a:latin typeface="Consolas"/>
              </a:rPr>
              <a:t>create_access_token</a:t>
            </a:r>
            <a:r>
              <a:rPr lang="en-US" sz="1100">
                <a:solidFill>
                  <a:srgbClr val="89DDFF"/>
                </a:solidFill>
                <a:highlight>
                  <a:srgbClr val="1A1B26"/>
                </a:highlight>
                <a:latin typeface="Consolas"/>
              </a:rPr>
              <a:t>",],</a:t>
            </a:r>
            <a:endParaRPr lang="en-US"/>
          </a:p>
          <a:p>
            <a:pPr marL="0" indent="0">
              <a:lnSpc>
                <a:spcPct val="110000"/>
              </a:lnSpc>
              <a:buNone/>
            </a:pP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negative_patterns</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endParaRPr lang="en-US"/>
          </a:p>
          <a:p>
            <a:pPr marL="0" indent="0">
              <a:lnSpc>
                <a:spcPct val="110000"/>
              </a:lnSpc>
              <a:buNone/>
            </a:pP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endParaRPr lang="en-US"/>
          </a:p>
          <a:p>
            <a:pPr marL="0" indent="0">
              <a:lnSpc>
                <a:spcPct val="110000"/>
              </a:lnSpc>
              <a:buNone/>
            </a:pPr>
            <a:r>
              <a:rPr lang="en-US" sz="1100">
                <a:solidFill>
                  <a:srgbClr val="89DDFF"/>
                </a:solidFill>
                <a:highlight>
                  <a:srgbClr val="1A1B26"/>
                </a:highlight>
                <a:latin typeface="Consolas"/>
              </a:rPr>
              <a:t>}</a:t>
            </a:r>
            <a:endParaRPr lang="en-US"/>
          </a:p>
          <a:p>
            <a:pPr>
              <a:buNone/>
            </a:pPr>
            <a:r>
              <a:rPr lang="en-US" sz="1100">
                <a:solidFill>
                  <a:srgbClr val="C0CAF5"/>
                </a:solidFill>
                <a:highlight>
                  <a:srgbClr val="1A1B26"/>
                </a:highlight>
                <a:latin typeface="Consolas"/>
              </a:rPr>
              <a:t>risk </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endParaRPr lang="en-US"/>
          </a:p>
          <a:p>
            <a:pPr>
              <a:buNone/>
            </a:pP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rule</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R01</a:t>
            </a:r>
            <a:r>
              <a:rPr lang="en-US" sz="1100">
                <a:solidFill>
                  <a:srgbClr val="89DDFF"/>
                </a:solidFill>
                <a:highlight>
                  <a:srgbClr val="1A1B26"/>
                </a:highlight>
                <a:latin typeface="Consolas"/>
              </a:rPr>
              <a:t>",</a:t>
            </a:r>
            <a:endParaRPr lang="en-US"/>
          </a:p>
          <a:p>
            <a:pPr>
              <a:buNone/>
            </a:pP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name</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JWT / Token Auth</a:t>
            </a:r>
            <a:r>
              <a:rPr lang="en-US" sz="1100">
                <a:solidFill>
                  <a:srgbClr val="89DDFF"/>
                </a:solidFill>
                <a:highlight>
                  <a:srgbClr val="1A1B26"/>
                </a:highlight>
                <a:latin typeface="Consolas"/>
              </a:rPr>
              <a:t>",</a:t>
            </a:r>
            <a:endParaRPr lang="en-US"/>
          </a:p>
          <a:p>
            <a:pPr>
              <a:buNone/>
            </a:pP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severity</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CRITICAL</a:t>
            </a:r>
            <a:r>
              <a:rPr lang="en-US" sz="1100">
                <a:solidFill>
                  <a:srgbClr val="89DDFF"/>
                </a:solidFill>
                <a:highlight>
                  <a:srgbClr val="1A1B26"/>
                </a:highlight>
                <a:latin typeface="Consolas"/>
              </a:rPr>
              <a:t>",</a:t>
            </a:r>
            <a:endParaRPr lang="en-US"/>
          </a:p>
          <a:p>
            <a:pPr>
              <a:buNone/>
            </a:pP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message</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No authentication detected in any file</a:t>
            </a:r>
            <a:r>
              <a:rPr lang="en-US" sz="1100">
                <a:solidFill>
                  <a:srgbClr val="89DDFF"/>
                </a:solidFill>
                <a:highlight>
                  <a:srgbClr val="1A1B26"/>
                </a:highlight>
                <a:latin typeface="Consolas"/>
              </a:rPr>
              <a:t>",</a:t>
            </a:r>
            <a:endParaRPr lang="en-US"/>
          </a:p>
          <a:p>
            <a:pPr>
              <a:buNone/>
            </a:pP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advice</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Implement JWT auth with python-</a:t>
            </a:r>
            <a:r>
              <a:rPr lang="en-US" sz="1100" err="1">
                <a:solidFill>
                  <a:srgbClr val="9ECE6A"/>
                </a:solidFill>
                <a:highlight>
                  <a:srgbClr val="1A1B26"/>
                </a:highlight>
                <a:latin typeface="Consolas"/>
              </a:rPr>
              <a:t>jose</a:t>
            </a:r>
            <a:r>
              <a:rPr lang="en-US" sz="1100">
                <a:solidFill>
                  <a:srgbClr val="9ECE6A"/>
                </a:solidFill>
                <a:highlight>
                  <a:srgbClr val="1A1B26"/>
                </a:highlight>
                <a:latin typeface="Consolas"/>
              </a:rPr>
              <a:t> or </a:t>
            </a:r>
            <a:r>
              <a:rPr lang="en-US" sz="1100" err="1">
                <a:solidFill>
                  <a:srgbClr val="9ECE6A"/>
                </a:solidFill>
                <a:highlight>
                  <a:srgbClr val="1A1B26"/>
                </a:highlight>
                <a:latin typeface="Consolas"/>
              </a:rPr>
              <a:t>PyJWT</a:t>
            </a:r>
            <a:r>
              <a:rPr lang="en-US" sz="1100">
                <a:solidFill>
                  <a:srgbClr val="89DDFF"/>
                </a:solidFill>
                <a:highlight>
                  <a:srgbClr val="1A1B26"/>
                </a:highlight>
                <a:latin typeface="Consolas"/>
              </a:rPr>
              <a:t>"</a:t>
            </a:r>
            <a:endParaRPr lang="en-US"/>
          </a:p>
          <a:p>
            <a:pPr>
              <a:buNone/>
            </a:pPr>
            <a:r>
              <a:rPr lang="en-US" sz="1100">
                <a:solidFill>
                  <a:srgbClr val="89DDFF"/>
                </a:solidFill>
                <a:highlight>
                  <a:srgbClr val="1A1B26"/>
                </a:highlight>
                <a:latin typeface="Consolas"/>
              </a:rPr>
              <a:t>}</a:t>
            </a:r>
            <a:endParaRPr lang="en-US"/>
          </a:p>
          <a:p>
            <a:pPr marL="0" indent="0">
              <a:lnSpc>
                <a:spcPct val="110000"/>
              </a:lnSpc>
              <a:buNone/>
            </a:pPr>
            <a:endParaRPr lang="en-US">
              <a:solidFill>
                <a:srgbClr val="FFFFFF"/>
              </a:solidFill>
              <a:latin typeface="Trade Gothic Next Light"/>
            </a:endParaRPr>
          </a:p>
        </p:txBody>
      </p:sp>
      <p:sp>
        <p:nvSpPr>
          <p:cNvPr id="4" name="Date Placeholder 3">
            <a:extLst>
              <a:ext uri="{FF2B5EF4-FFF2-40B4-BE49-F238E27FC236}">
                <a16:creationId xmlns:a16="http://schemas.microsoft.com/office/drawing/2014/main" id="{EAFEAA1F-3170-7C95-60ED-6E88C04495A4}"/>
              </a:ext>
            </a:extLst>
          </p:cNvPr>
          <p:cNvSpPr>
            <a:spLocks noGrp="1"/>
          </p:cNvSpPr>
          <p:nvPr>
            <p:ph type="dt" sz="half" idx="10"/>
          </p:nvPr>
        </p:nvSpPr>
        <p:spPr/>
        <p:txBody>
          <a:bodyPr/>
          <a:lstStyle/>
          <a:p>
            <a:fld id="{BBA67701-6CE7-4AB9-9707-F3FAF0A2C415}" type="datetime1">
              <a:rPr lang="en-US"/>
              <a:t>3/11/2026</a:t>
            </a:fld>
            <a:endParaRPr lang="en-US"/>
          </a:p>
        </p:txBody>
      </p:sp>
      <p:sp>
        <p:nvSpPr>
          <p:cNvPr id="5" name="Footer Placeholder 4">
            <a:extLst>
              <a:ext uri="{FF2B5EF4-FFF2-40B4-BE49-F238E27FC236}">
                <a16:creationId xmlns:a16="http://schemas.microsoft.com/office/drawing/2014/main" id="{0B93F809-D11A-6296-EBB5-66338CE9597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0218179-57D9-1735-E43F-62967720117B}"/>
              </a:ext>
            </a:extLst>
          </p:cNvPr>
          <p:cNvSpPr>
            <a:spLocks noGrp="1"/>
          </p:cNvSpPr>
          <p:nvPr>
            <p:ph type="sldNum" sz="quarter" idx="12"/>
          </p:nvPr>
        </p:nvSpPr>
        <p:spPr/>
        <p:txBody>
          <a:bodyPr/>
          <a:lstStyle/>
          <a:p>
            <a:fld id="{196A61CA-0502-4EE4-9724-96EA822543E5}" type="slidenum">
              <a:rPr lang="en-US" dirty="0"/>
              <a:t>13</a:t>
            </a:fld>
            <a:endParaRPr lang="en-US"/>
          </a:p>
        </p:txBody>
      </p:sp>
    </p:spTree>
    <p:extLst>
      <p:ext uri="{BB962C8B-B14F-4D97-AF65-F5344CB8AC3E}">
        <p14:creationId xmlns:p14="http://schemas.microsoft.com/office/powerpoint/2010/main" val="161223778"/>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BF26222-E04F-55BB-EF32-BBEB5E37A5B5}"/>
              </a:ext>
            </a:extLst>
          </p:cNvPr>
          <p:cNvSpPr>
            <a:spLocks noGrp="1"/>
          </p:cNvSpPr>
          <p:nvPr>
            <p:ph type="dt" sz="half" idx="10"/>
          </p:nvPr>
        </p:nvSpPr>
        <p:spPr/>
        <p:txBody>
          <a:bodyPr/>
          <a:lstStyle/>
          <a:p>
            <a:fld id="{1EB2DE01-535A-4CFB-98FC-2F841173CC8B}" type="datetime1">
              <a:t>3/11/2026</a:t>
            </a:fld>
            <a:endParaRPr lang="en-US"/>
          </a:p>
        </p:txBody>
      </p:sp>
      <p:sp>
        <p:nvSpPr>
          <p:cNvPr id="11" name="Content Placeholder 10">
            <a:extLst>
              <a:ext uri="{FF2B5EF4-FFF2-40B4-BE49-F238E27FC236}">
                <a16:creationId xmlns:a16="http://schemas.microsoft.com/office/drawing/2014/main" id="{B4882948-F162-0B97-B641-A46A41A94AE7}"/>
              </a:ext>
            </a:extLst>
          </p:cNvPr>
          <p:cNvSpPr>
            <a:spLocks noGrp="1"/>
          </p:cNvSpPr>
          <p:nvPr>
            <p:ph idx="1"/>
          </p:nvPr>
        </p:nvSpPr>
        <p:spPr>
          <a:xfrm>
            <a:off x="-488" y="10441"/>
            <a:ext cx="12192486" cy="6868436"/>
          </a:xfrm>
          <a:ln>
            <a:solidFill>
              <a:srgbClr val="4472C4"/>
            </a:solidFill>
          </a:ln>
        </p:spPr>
        <p:txBody>
          <a:bodyPr vert="horz" lIns="91440" tIns="45720" rIns="91440" bIns="45720" rtlCol="0" anchor="t">
            <a:normAutofit/>
          </a:bodyPr>
          <a:lstStyle/>
          <a:p>
            <a:pPr marL="0" indent="0" algn="ctr">
              <a:buNone/>
            </a:pPr>
            <a:r>
              <a:rPr lang="en-US" sz="3600">
                <a:solidFill>
                  <a:srgbClr val="7DCFFF"/>
                </a:solidFill>
                <a:highlight>
                  <a:srgbClr val="1A1B26"/>
                </a:highlight>
                <a:latin typeface="Consolas"/>
              </a:rPr>
              <a:t>Example</a:t>
            </a:r>
            <a:endParaRPr lang="en-US" sz="3600"/>
          </a:p>
          <a:p>
            <a:pPr marL="0" indent="0">
              <a:buNone/>
            </a:pPr>
            <a:r>
              <a:rPr lang="en-US" sz="1100">
                <a:solidFill>
                  <a:srgbClr val="7DCFFF"/>
                </a:solidFill>
                <a:highlight>
                  <a:srgbClr val="1A1B26"/>
                </a:highlight>
                <a:latin typeface="Consolas"/>
              </a:rPr>
              <a:t>from</a:t>
            </a:r>
            <a:r>
              <a:rPr lang="en-US" sz="1100">
                <a:solidFill>
                  <a:srgbClr val="C0CAF5"/>
                </a:solidFill>
                <a:highlight>
                  <a:srgbClr val="1A1B26"/>
                </a:highlight>
                <a:latin typeface="Consolas"/>
              </a:rPr>
              <a:t> </a:t>
            </a:r>
            <a:r>
              <a:rPr lang="en-US" sz="1100" err="1">
                <a:solidFill>
                  <a:srgbClr val="C0CAF5"/>
                </a:solidFill>
                <a:highlight>
                  <a:srgbClr val="1A1B26"/>
                </a:highlight>
                <a:latin typeface="Consolas"/>
              </a:rPr>
              <a:t>jose</a:t>
            </a:r>
            <a:r>
              <a:rPr lang="en-US" sz="1100">
                <a:solidFill>
                  <a:srgbClr val="C0CAF5"/>
                </a:solidFill>
                <a:highlight>
                  <a:srgbClr val="1A1B26"/>
                </a:highlight>
                <a:latin typeface="Consolas"/>
              </a:rPr>
              <a:t> </a:t>
            </a:r>
            <a:r>
              <a:rPr lang="en-US" sz="1100">
                <a:solidFill>
                  <a:srgbClr val="7DCFFF"/>
                </a:solidFill>
                <a:highlight>
                  <a:srgbClr val="1A1B26"/>
                </a:highlight>
                <a:latin typeface="Consolas"/>
              </a:rPr>
              <a:t>import</a:t>
            </a:r>
            <a:r>
              <a:rPr lang="en-US" sz="1100">
                <a:solidFill>
                  <a:srgbClr val="C0CAF5"/>
                </a:solidFill>
                <a:highlight>
                  <a:srgbClr val="1A1B26"/>
                </a:highlight>
                <a:latin typeface="Consolas"/>
              </a:rPr>
              <a:t> </a:t>
            </a:r>
            <a:r>
              <a:rPr lang="en-US" sz="1100" err="1">
                <a:solidFill>
                  <a:srgbClr val="C0CAF5"/>
                </a:solidFill>
                <a:highlight>
                  <a:srgbClr val="1A1B26"/>
                </a:highlight>
                <a:latin typeface="Consolas"/>
              </a:rPr>
              <a:t>jwt</a:t>
            </a:r>
            <a:endParaRPr lang="en-US"/>
          </a:p>
          <a:p>
            <a:pPr marL="0" indent="0">
              <a:buNone/>
            </a:pPr>
            <a:r>
              <a:rPr lang="en-US" sz="1100">
                <a:solidFill>
                  <a:srgbClr val="7DCFFF"/>
                </a:solidFill>
                <a:highlight>
                  <a:srgbClr val="1A1B26"/>
                </a:highlight>
                <a:latin typeface="Consolas"/>
              </a:rPr>
              <a:t>import</a:t>
            </a:r>
            <a:r>
              <a:rPr lang="en-US" sz="1100">
                <a:solidFill>
                  <a:srgbClr val="C0CAF5"/>
                </a:solidFill>
                <a:highlight>
                  <a:srgbClr val="1A1B26"/>
                </a:highlight>
                <a:latin typeface="Consolas"/>
              </a:rPr>
              <a:t> </a:t>
            </a:r>
            <a:r>
              <a:rPr lang="en-US" sz="1100" err="1">
                <a:solidFill>
                  <a:srgbClr val="C0CAF5"/>
                </a:solidFill>
                <a:highlight>
                  <a:srgbClr val="1A1B26"/>
                </a:highlight>
                <a:latin typeface="Consolas"/>
              </a:rPr>
              <a:t>os</a:t>
            </a:r>
            <a:endParaRPr lang="en-US" err="1"/>
          </a:p>
          <a:p>
            <a:pPr marL="0" indent="0">
              <a:buNone/>
            </a:pPr>
            <a:r>
              <a:rPr lang="en-US" sz="1100">
                <a:solidFill>
                  <a:srgbClr val="FF9E64"/>
                </a:solidFill>
                <a:highlight>
                  <a:srgbClr val="1A1B26"/>
                </a:highlight>
                <a:latin typeface="Consolas"/>
              </a:rPr>
              <a:t>SECRET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err="1">
                <a:solidFill>
                  <a:srgbClr val="C0CAF5"/>
                </a:solidFill>
                <a:highlight>
                  <a:srgbClr val="1A1B26"/>
                </a:highlight>
                <a:latin typeface="Consolas"/>
              </a:rPr>
              <a:t>os</a:t>
            </a:r>
            <a:r>
              <a:rPr lang="en-US" sz="1100" err="1">
                <a:solidFill>
                  <a:srgbClr val="89DDFF"/>
                </a:solidFill>
                <a:highlight>
                  <a:srgbClr val="1A1B26"/>
                </a:highlight>
                <a:latin typeface="Consolas"/>
              </a:rPr>
              <a:t>.</a:t>
            </a:r>
            <a:r>
              <a:rPr lang="en-US" sz="1100" err="1">
                <a:solidFill>
                  <a:srgbClr val="C0CAF5"/>
                </a:solidFill>
                <a:highlight>
                  <a:srgbClr val="1A1B26"/>
                </a:highlight>
                <a:latin typeface="Consolas"/>
              </a:rPr>
              <a:t>environ</a:t>
            </a:r>
            <a:r>
              <a:rPr lang="en-US" sz="1100" err="1">
                <a:solidFill>
                  <a:srgbClr val="89DDFF"/>
                </a:solidFill>
                <a:highlight>
                  <a:srgbClr val="1A1B26"/>
                </a:highlight>
                <a:latin typeface="Consolas"/>
              </a:rPr>
              <a:t>.</a:t>
            </a:r>
            <a:r>
              <a:rPr lang="en-US" sz="1100" err="1">
                <a:solidFill>
                  <a:srgbClr val="7AA2F7"/>
                </a:solidFill>
                <a:highlight>
                  <a:srgbClr val="1A1B26"/>
                </a:highlight>
                <a:latin typeface="Consolas"/>
              </a:rPr>
              <a:t>get</a:t>
            </a:r>
            <a:r>
              <a:rPr lang="en-US" sz="1100">
                <a:solidFill>
                  <a:srgbClr val="9ABDF5"/>
                </a:solidFill>
                <a:highlight>
                  <a:srgbClr val="1A1B26"/>
                </a:highlight>
                <a:latin typeface="Consolas"/>
              </a:rPr>
              <a:t>(</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SECRET_KEY</a:t>
            </a:r>
            <a:r>
              <a:rPr lang="en-US" sz="1100">
                <a:solidFill>
                  <a:srgbClr val="89DDFF"/>
                </a:solidFill>
                <a:highlight>
                  <a:srgbClr val="1A1B26"/>
                </a:highlight>
                <a:latin typeface="Consolas"/>
              </a:rPr>
              <a:t>"</a:t>
            </a:r>
            <a:r>
              <a:rPr lang="en-US" sz="1100">
                <a:solidFill>
                  <a:srgbClr val="9ABDF5"/>
                </a:solidFill>
                <a:highlight>
                  <a:srgbClr val="1A1B26"/>
                </a:highlight>
                <a:latin typeface="Consolas"/>
              </a:rPr>
              <a:t>)</a:t>
            </a:r>
            <a:endParaRPr lang="en-US"/>
          </a:p>
          <a:p>
            <a:pPr marL="0" indent="0">
              <a:buNone/>
            </a:pPr>
            <a:r>
              <a:rPr lang="en-US" sz="1100">
                <a:solidFill>
                  <a:srgbClr val="BB9AF7"/>
                </a:solidFill>
                <a:highlight>
                  <a:srgbClr val="1A1B26"/>
                </a:highlight>
                <a:latin typeface="Consolas"/>
              </a:rPr>
              <a:t>def</a:t>
            </a:r>
            <a:r>
              <a:rPr lang="en-US" sz="1100">
                <a:solidFill>
                  <a:srgbClr val="C0CAF5"/>
                </a:solidFill>
                <a:highlight>
                  <a:srgbClr val="1A1B26"/>
                </a:highlight>
                <a:latin typeface="Consolas"/>
              </a:rPr>
              <a:t> </a:t>
            </a:r>
            <a:r>
              <a:rPr lang="en-US" sz="1100" err="1">
                <a:solidFill>
                  <a:srgbClr val="7AA2F7"/>
                </a:solidFill>
                <a:highlight>
                  <a:srgbClr val="1A1B26"/>
                </a:highlight>
                <a:latin typeface="Consolas"/>
              </a:rPr>
              <a:t>create_access_token</a:t>
            </a:r>
            <a:r>
              <a:rPr lang="en-US" sz="1100">
                <a:solidFill>
                  <a:srgbClr val="9ABDF5"/>
                </a:solidFill>
                <a:highlight>
                  <a:srgbClr val="1A1B26"/>
                </a:highlight>
                <a:latin typeface="Consolas"/>
              </a:rPr>
              <a:t>(</a:t>
            </a:r>
            <a:r>
              <a:rPr lang="en-US" sz="1100" err="1">
                <a:solidFill>
                  <a:srgbClr val="E0AF68"/>
                </a:solidFill>
                <a:highlight>
                  <a:srgbClr val="1A1B26"/>
                </a:highlight>
                <a:latin typeface="Consolas"/>
              </a:rPr>
              <a:t>user_id</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0DB9D7"/>
                </a:solidFill>
                <a:highlight>
                  <a:srgbClr val="1A1B26"/>
                </a:highlight>
                <a:latin typeface="Consolas"/>
              </a:rPr>
              <a:t>str</a:t>
            </a:r>
            <a:r>
              <a:rPr lang="en-US" sz="1100">
                <a:solidFill>
                  <a:srgbClr val="9ABDF5"/>
                </a:solidFill>
                <a:highlight>
                  <a:srgbClr val="1A1B26"/>
                </a:highlight>
                <a:latin typeface="Consolas"/>
              </a:rPr>
              <a:t>):</a:t>
            </a:r>
            <a:endParaRPr lang="en-US"/>
          </a:p>
          <a:p>
            <a:pPr marL="0" indent="0">
              <a:buNone/>
            </a:pPr>
            <a:r>
              <a:rPr lang="en-US" sz="1100">
                <a:solidFill>
                  <a:srgbClr val="C0CAF5"/>
                </a:solidFill>
                <a:highlight>
                  <a:srgbClr val="1A1B26"/>
                </a:highlight>
                <a:latin typeface="Consolas"/>
              </a:rPr>
              <a:t>    data </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sub</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err="1">
                <a:solidFill>
                  <a:srgbClr val="C0CAF5"/>
                </a:solidFill>
                <a:highlight>
                  <a:srgbClr val="1A1B26"/>
                </a:highlight>
                <a:latin typeface="Consolas"/>
              </a:rPr>
              <a:t>user_id</a:t>
            </a:r>
            <a:r>
              <a:rPr lang="en-US" sz="1100">
                <a:solidFill>
                  <a:srgbClr val="89DDFF"/>
                </a:solidFill>
                <a:highlight>
                  <a:srgbClr val="1A1B26"/>
                </a:highlight>
                <a:latin typeface="Consolas"/>
              </a:rPr>
              <a:t>}</a:t>
            </a:r>
            <a:endParaRPr lang="en-US"/>
          </a:p>
          <a:p>
            <a:pPr marL="0" indent="0">
              <a:buNone/>
            </a:pPr>
            <a:r>
              <a:rPr lang="en-US" sz="1100">
                <a:solidFill>
                  <a:srgbClr val="C0CAF5"/>
                </a:solidFill>
                <a:highlight>
                  <a:srgbClr val="1A1B26"/>
                </a:highlight>
                <a:latin typeface="Consolas"/>
              </a:rPr>
              <a:t>    token </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err="1">
                <a:solidFill>
                  <a:srgbClr val="C0CAF5"/>
                </a:solidFill>
                <a:highlight>
                  <a:srgbClr val="1A1B26"/>
                </a:highlight>
                <a:latin typeface="Consolas"/>
              </a:rPr>
              <a:t>jwt</a:t>
            </a:r>
            <a:r>
              <a:rPr lang="en-US" sz="1100" err="1">
                <a:solidFill>
                  <a:srgbClr val="89DDFF"/>
                </a:solidFill>
                <a:highlight>
                  <a:srgbClr val="1A1B26"/>
                </a:highlight>
                <a:latin typeface="Consolas"/>
              </a:rPr>
              <a:t>.</a:t>
            </a:r>
            <a:r>
              <a:rPr lang="en-US" sz="1100" err="1">
                <a:solidFill>
                  <a:srgbClr val="7AA2F7"/>
                </a:solidFill>
                <a:highlight>
                  <a:srgbClr val="1A1B26"/>
                </a:highlight>
                <a:latin typeface="Consolas"/>
              </a:rPr>
              <a:t>encode</a:t>
            </a:r>
            <a:r>
              <a:rPr lang="en-US" sz="1100">
                <a:solidFill>
                  <a:srgbClr val="9ABDF5"/>
                </a:solidFill>
                <a:highlight>
                  <a:srgbClr val="1A1B26"/>
                </a:highlight>
                <a:latin typeface="Consolas"/>
              </a:rPr>
              <a:t>(</a:t>
            </a:r>
            <a:r>
              <a:rPr lang="en-US" sz="1100">
                <a:solidFill>
                  <a:srgbClr val="C0CAF5"/>
                </a:solidFill>
                <a:highlight>
                  <a:srgbClr val="1A1B26"/>
                </a:highlight>
                <a:latin typeface="Consolas"/>
              </a:rPr>
              <a:t>data</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FF9E64"/>
                </a:solidFill>
                <a:highlight>
                  <a:srgbClr val="1A1B26"/>
                </a:highlight>
                <a:latin typeface="Consolas"/>
              </a:rPr>
              <a:t>SECRET</a:t>
            </a:r>
            <a:r>
              <a:rPr lang="en-US" sz="1100">
                <a:solidFill>
                  <a:srgbClr val="89DDFF"/>
                </a:solidFill>
                <a:highlight>
                  <a:srgbClr val="1A1B26"/>
                </a:highlight>
                <a:latin typeface="Consolas"/>
              </a:rPr>
              <a:t>,</a:t>
            </a:r>
            <a:r>
              <a:rPr lang="en-US" sz="1100">
                <a:solidFill>
                  <a:srgbClr val="C0CAF5"/>
                </a:solidFill>
                <a:highlight>
                  <a:srgbClr val="1A1B26"/>
                </a:highlight>
                <a:latin typeface="Consolas"/>
              </a:rPr>
              <a:t> </a:t>
            </a:r>
            <a:r>
              <a:rPr lang="en-US" sz="1100">
                <a:solidFill>
                  <a:srgbClr val="E0AF68"/>
                </a:solidFill>
                <a:highlight>
                  <a:srgbClr val="1A1B26"/>
                </a:highlight>
                <a:latin typeface="Consolas"/>
              </a:rPr>
              <a:t>algorithm</a:t>
            </a:r>
            <a:r>
              <a:rPr lang="en-US" sz="1100">
                <a:solidFill>
                  <a:srgbClr val="89DDFF"/>
                </a:solidFill>
                <a:highlight>
                  <a:srgbClr val="1A1B26"/>
                </a:highlight>
                <a:latin typeface="Consolas"/>
              </a:rPr>
              <a:t>="</a:t>
            </a:r>
            <a:r>
              <a:rPr lang="en-US" sz="1100">
                <a:solidFill>
                  <a:srgbClr val="9ECE6A"/>
                </a:solidFill>
                <a:highlight>
                  <a:srgbClr val="1A1B26"/>
                </a:highlight>
                <a:latin typeface="Consolas"/>
              </a:rPr>
              <a:t>HS256</a:t>
            </a:r>
            <a:r>
              <a:rPr lang="en-US" sz="1100">
                <a:solidFill>
                  <a:srgbClr val="89DDFF"/>
                </a:solidFill>
                <a:highlight>
                  <a:srgbClr val="1A1B26"/>
                </a:highlight>
                <a:latin typeface="Consolas"/>
              </a:rPr>
              <a:t>"</a:t>
            </a:r>
            <a:r>
              <a:rPr lang="en-US" sz="1100">
                <a:solidFill>
                  <a:srgbClr val="9ABDF5"/>
                </a:solidFill>
                <a:highlight>
                  <a:srgbClr val="1A1B26"/>
                </a:highlight>
                <a:latin typeface="Consolas"/>
              </a:rPr>
              <a:t>)</a:t>
            </a:r>
            <a:endParaRPr lang="en-US"/>
          </a:p>
          <a:p>
            <a:pPr marL="0" indent="0">
              <a:buNone/>
            </a:pPr>
            <a:r>
              <a:rPr lang="en-US" sz="1100">
                <a:solidFill>
                  <a:srgbClr val="C0CAF5"/>
                </a:solidFill>
                <a:highlight>
                  <a:srgbClr val="1A1B26"/>
                </a:highlight>
                <a:latin typeface="Consolas"/>
              </a:rPr>
              <a:t>    </a:t>
            </a:r>
            <a:r>
              <a:rPr lang="en-US" sz="1100">
                <a:solidFill>
                  <a:srgbClr val="BB9AF7"/>
                </a:solidFill>
                <a:highlight>
                  <a:srgbClr val="1A1B26"/>
                </a:highlight>
                <a:latin typeface="Consolas"/>
              </a:rPr>
              <a:t>return</a:t>
            </a:r>
            <a:r>
              <a:rPr lang="en-US" sz="1100">
                <a:solidFill>
                  <a:srgbClr val="C0CAF5"/>
                </a:solidFill>
                <a:highlight>
                  <a:srgbClr val="1A1B26"/>
                </a:highlight>
                <a:latin typeface="Consolas"/>
              </a:rPr>
              <a:t> token</a:t>
            </a:r>
            <a:endParaRPr lang="en-US"/>
          </a:p>
          <a:p>
            <a:pPr marL="0" indent="0">
              <a:buNone/>
            </a:pPr>
            <a:r>
              <a:rPr lang="en-US" sz="1100">
                <a:solidFill>
                  <a:schemeClr val="tx1">
                    <a:lumMod val="95000"/>
                  </a:schemeClr>
                </a:solidFill>
                <a:highlight>
                  <a:srgbClr val="1A1B26"/>
                </a:highlight>
                <a:latin typeface="Consolas"/>
              </a:rPr>
              <a:t>For example </a:t>
            </a:r>
            <a:r>
              <a:rPr lang="en-US" sz="1100" err="1">
                <a:solidFill>
                  <a:schemeClr val="tx1">
                    <a:lumMod val="95000"/>
                  </a:schemeClr>
                </a:solidFill>
                <a:highlight>
                  <a:srgbClr val="1A1B26"/>
                </a:highlight>
                <a:latin typeface="Consolas"/>
              </a:rPr>
              <a:t>lets</a:t>
            </a:r>
            <a:r>
              <a:rPr lang="en-US" sz="1100">
                <a:solidFill>
                  <a:schemeClr val="tx1">
                    <a:lumMod val="95000"/>
                  </a:schemeClr>
                </a:solidFill>
                <a:highlight>
                  <a:srgbClr val="1A1B26"/>
                </a:highlight>
                <a:latin typeface="Consolas"/>
              </a:rPr>
              <a:t> consider this code is present in user given </a:t>
            </a:r>
            <a:r>
              <a:rPr lang="en-US" sz="1100" err="1">
                <a:solidFill>
                  <a:schemeClr val="tx1">
                    <a:lumMod val="95000"/>
                  </a:schemeClr>
                </a:solidFill>
                <a:highlight>
                  <a:srgbClr val="1A1B26"/>
                </a:highlight>
                <a:latin typeface="Consolas"/>
              </a:rPr>
              <a:t>file,consider</a:t>
            </a:r>
            <a:r>
              <a:rPr lang="en-US" sz="1100">
                <a:solidFill>
                  <a:schemeClr val="tx1">
                    <a:lumMod val="95000"/>
                  </a:schemeClr>
                </a:solidFill>
                <a:highlight>
                  <a:srgbClr val="1A1B26"/>
                </a:highlight>
                <a:latin typeface="Consolas"/>
              </a:rPr>
              <a:t> rule 1 </a:t>
            </a:r>
            <a:r>
              <a:rPr lang="en-US" sz="1100" err="1">
                <a:solidFill>
                  <a:schemeClr val="tx1">
                    <a:lumMod val="95000"/>
                  </a:schemeClr>
                </a:solidFill>
                <a:highlight>
                  <a:srgbClr val="1A1B26"/>
                </a:highlight>
                <a:latin typeface="Consolas"/>
              </a:rPr>
              <a:t>jwt</a:t>
            </a:r>
            <a:r>
              <a:rPr lang="en-US" sz="1100">
                <a:solidFill>
                  <a:schemeClr val="tx1">
                    <a:lumMod val="95000"/>
                  </a:schemeClr>
                </a:solidFill>
                <a:highlight>
                  <a:srgbClr val="1A1B26"/>
                </a:highlight>
                <a:latin typeface="Consolas"/>
              </a:rPr>
              <a:t> auth.</a:t>
            </a:r>
          </a:p>
          <a:p>
            <a:pPr marL="0" indent="0">
              <a:buNone/>
            </a:pPr>
            <a:r>
              <a:rPr lang="en-US" sz="1100">
                <a:solidFill>
                  <a:schemeClr val="tx1">
                    <a:lumMod val="95000"/>
                  </a:schemeClr>
                </a:solidFill>
                <a:highlight>
                  <a:srgbClr val="1A1B26"/>
                </a:highlight>
                <a:latin typeface="Consolas"/>
              </a:rPr>
              <a:t>Line 1: "from </a:t>
            </a:r>
            <a:r>
              <a:rPr lang="en-US" sz="1100" err="1">
                <a:solidFill>
                  <a:schemeClr val="tx1">
                    <a:lumMod val="95000"/>
                  </a:schemeClr>
                </a:solidFill>
                <a:highlight>
                  <a:srgbClr val="1A1B26"/>
                </a:highlight>
                <a:latin typeface="Consolas"/>
              </a:rPr>
              <a:t>jose</a:t>
            </a:r>
            <a:r>
              <a:rPr lang="en-US" sz="1100">
                <a:solidFill>
                  <a:schemeClr val="tx1">
                    <a:lumMod val="95000"/>
                  </a:schemeClr>
                </a:solidFill>
                <a:highlight>
                  <a:srgbClr val="1A1B26"/>
                </a:highlight>
                <a:latin typeface="Consolas"/>
              </a:rPr>
              <a:t> import </a:t>
            </a:r>
            <a:r>
              <a:rPr lang="en-US" sz="1100" err="1">
                <a:solidFill>
                  <a:schemeClr val="tx1">
                    <a:lumMod val="95000"/>
                  </a:schemeClr>
                </a:solidFill>
                <a:highlight>
                  <a:srgbClr val="1A1B26"/>
                </a:highlight>
                <a:latin typeface="Consolas"/>
              </a:rPr>
              <a:t>jwt</a:t>
            </a:r>
            <a:r>
              <a:rPr lang="en-US" sz="1100">
                <a:solidFill>
                  <a:schemeClr val="tx1">
                    <a:lumMod val="95000"/>
                  </a:schemeClr>
                </a:solidFill>
                <a:highlight>
                  <a:srgbClr val="1A1B26"/>
                </a:highlight>
                <a:latin typeface="Consolas"/>
              </a:rPr>
              <a:t>"</a:t>
            </a:r>
          </a:p>
          <a:p>
            <a:pPr marL="0" indent="0">
              <a:buNone/>
            </a:pPr>
            <a:r>
              <a:rPr lang="en-US" sz="1100">
                <a:solidFill>
                  <a:schemeClr val="tx1">
                    <a:lumMod val="95000"/>
                  </a:schemeClr>
                </a:solidFill>
                <a:highlight>
                  <a:srgbClr val="1A1B26"/>
                </a:highlight>
                <a:latin typeface="Consolas"/>
              </a:rPr>
              <a:t>  Pattern 1  "</a:t>
            </a:r>
            <a:r>
              <a:rPr lang="en-US" sz="1100" err="1">
                <a:solidFill>
                  <a:schemeClr val="tx1">
                    <a:lumMod val="95000"/>
                  </a:schemeClr>
                </a:solidFill>
                <a:highlight>
                  <a:srgbClr val="1A1B26"/>
                </a:highlight>
                <a:latin typeface="Consolas"/>
              </a:rPr>
              <a:t>jwt</a:t>
            </a:r>
            <a:r>
              <a:rPr lang="en-US" sz="1100">
                <a:solidFill>
                  <a:schemeClr val="tx1">
                    <a:lumMod val="95000"/>
                  </a:schemeClr>
                </a:solidFill>
                <a:highlight>
                  <a:srgbClr val="1A1B26"/>
                </a:highlight>
                <a:latin typeface="Consolas"/>
              </a:rPr>
              <a:t>\." NO (no dot after </a:t>
            </a:r>
            <a:r>
              <a:rPr lang="en-US" sz="1100" err="1">
                <a:solidFill>
                  <a:schemeClr val="tx1">
                    <a:lumMod val="95000"/>
                  </a:schemeClr>
                </a:solidFill>
                <a:highlight>
                  <a:srgbClr val="1A1B26"/>
                </a:highlight>
                <a:latin typeface="Consolas"/>
              </a:rPr>
              <a:t>jwt</a:t>
            </a:r>
            <a:r>
              <a:rPr lang="en-US" sz="1100">
                <a:solidFill>
                  <a:schemeClr val="tx1">
                    <a:lumMod val="95000"/>
                  </a:schemeClr>
                </a:solidFill>
                <a:highlight>
                  <a:srgbClr val="1A1B26"/>
                </a:highlight>
                <a:latin typeface="Consolas"/>
              </a:rPr>
              <a:t>) , Pattern 2 to 12-&gt; NO</a:t>
            </a:r>
            <a:endParaRPr lang="en-US">
              <a:solidFill>
                <a:schemeClr val="tx1">
                  <a:lumMod val="95000"/>
                </a:schemeClr>
              </a:solidFill>
            </a:endParaRPr>
          </a:p>
          <a:p>
            <a:pPr marL="0" indent="0">
              <a:buNone/>
            </a:pPr>
            <a:r>
              <a:rPr lang="en-US" sz="1100">
                <a:solidFill>
                  <a:schemeClr val="tx1">
                    <a:lumMod val="95000"/>
                  </a:schemeClr>
                </a:solidFill>
                <a:highlight>
                  <a:srgbClr val="1A1B26"/>
                </a:highlight>
                <a:latin typeface="Consolas"/>
              </a:rPr>
              <a:t>  RESULT: 0 matches. Move to next line.</a:t>
            </a:r>
            <a:endParaRPr lang="en-US">
              <a:solidFill>
                <a:schemeClr val="tx1">
                  <a:lumMod val="95000"/>
                </a:schemeClr>
              </a:solidFill>
            </a:endParaRPr>
          </a:p>
          <a:p>
            <a:pPr>
              <a:buNone/>
            </a:pPr>
            <a:r>
              <a:rPr lang="en-US" sz="1100">
                <a:solidFill>
                  <a:schemeClr val="tx1">
                    <a:lumMod val="95000"/>
                  </a:schemeClr>
                </a:solidFill>
                <a:highlight>
                  <a:srgbClr val="1A1B26"/>
                </a:highlight>
                <a:latin typeface="Consolas"/>
              </a:rPr>
              <a:t>Line 2: "import </a:t>
            </a:r>
            <a:r>
              <a:rPr lang="en-US" sz="1100" err="1">
                <a:solidFill>
                  <a:schemeClr val="tx1">
                    <a:lumMod val="95000"/>
                  </a:schemeClr>
                </a:solidFill>
                <a:highlight>
                  <a:srgbClr val="1A1B26"/>
                </a:highlight>
                <a:latin typeface="Consolas"/>
              </a:rPr>
              <a:t>os</a:t>
            </a:r>
            <a:r>
              <a:rPr lang="en-US" sz="1100">
                <a:solidFill>
                  <a:schemeClr val="tx1">
                    <a:lumMod val="95000"/>
                  </a:schemeClr>
                </a:solidFill>
                <a:highlight>
                  <a:srgbClr val="1A1B26"/>
                </a:highlight>
                <a:latin typeface="Consolas"/>
              </a:rPr>
              <a:t>"  ---&gt;  All 12 patterns checked -&gt; NONE match ----&gt;  RESULT: 0 matches.</a:t>
            </a:r>
          </a:p>
          <a:p>
            <a:pPr>
              <a:buNone/>
            </a:pPr>
            <a:r>
              <a:rPr lang="en-US" sz="1100">
                <a:solidFill>
                  <a:schemeClr val="tx1">
                    <a:lumMod val="95000"/>
                  </a:schemeClr>
                </a:solidFill>
                <a:highlight>
                  <a:srgbClr val="1A1B26"/>
                </a:highlight>
                <a:latin typeface="Consolas"/>
              </a:rPr>
              <a:t>---&gt; it does this for all lines</a:t>
            </a:r>
          </a:p>
          <a:p>
            <a:pPr>
              <a:buNone/>
            </a:pPr>
            <a:r>
              <a:rPr lang="en-US" sz="1100">
                <a:solidFill>
                  <a:schemeClr val="tx1">
                    <a:lumMod val="95000"/>
                  </a:schemeClr>
                </a:solidFill>
                <a:highlight>
                  <a:srgbClr val="1A1B26"/>
                </a:highlight>
                <a:latin typeface="Consolas"/>
              </a:rPr>
              <a:t>Line 4: Pattern 6  "</a:t>
            </a:r>
            <a:r>
              <a:rPr lang="en-US" sz="1100" err="1">
                <a:solidFill>
                  <a:schemeClr val="tx1">
                    <a:lumMod val="95000"/>
                  </a:schemeClr>
                </a:solidFill>
                <a:highlight>
                  <a:srgbClr val="1A1B26"/>
                </a:highlight>
                <a:latin typeface="Consolas"/>
              </a:rPr>
              <a:t>access_token</a:t>
            </a:r>
            <a:r>
              <a:rPr lang="en-US" sz="1100">
                <a:solidFill>
                  <a:schemeClr val="tx1">
                    <a:lumMod val="95000"/>
                  </a:schemeClr>
                </a:solidFill>
                <a:highlight>
                  <a:srgbClr val="1A1B26"/>
                </a:highlight>
                <a:latin typeface="Consolas"/>
              </a:rPr>
              <a:t>" -&gt; YES! "</a:t>
            </a:r>
            <a:r>
              <a:rPr lang="en-US" sz="1100" err="1">
                <a:solidFill>
                  <a:schemeClr val="tx1">
                    <a:lumMod val="95000"/>
                  </a:schemeClr>
                </a:solidFill>
                <a:highlight>
                  <a:srgbClr val="1A1B26"/>
                </a:highlight>
                <a:latin typeface="Consolas"/>
              </a:rPr>
              <a:t>create_access_token</a:t>
            </a:r>
            <a:r>
              <a:rPr lang="en-US" sz="1100">
                <a:solidFill>
                  <a:schemeClr val="tx1">
                    <a:lumMod val="95000"/>
                  </a:schemeClr>
                </a:solidFill>
                <a:highlight>
                  <a:srgbClr val="1A1B26"/>
                </a:highlight>
                <a:latin typeface="Consolas"/>
              </a:rPr>
              <a:t>" CONTAINS "</a:t>
            </a:r>
            <a:r>
              <a:rPr lang="en-US" sz="1100" err="1">
                <a:solidFill>
                  <a:schemeClr val="tx1">
                    <a:lumMod val="95000"/>
                  </a:schemeClr>
                </a:solidFill>
                <a:highlight>
                  <a:srgbClr val="1A1B26"/>
                </a:highlight>
                <a:latin typeface="Consolas"/>
              </a:rPr>
              <a:t>access_token</a:t>
            </a:r>
            <a:r>
              <a:rPr lang="en-US" sz="1100">
                <a:solidFill>
                  <a:schemeClr val="tx1">
                    <a:lumMod val="95000"/>
                  </a:schemeClr>
                </a:solidFill>
                <a:highlight>
                  <a:srgbClr val="1A1B26"/>
                </a:highlight>
                <a:latin typeface="Consolas"/>
              </a:rPr>
              <a:t>"</a:t>
            </a:r>
            <a:endParaRPr lang="en-US">
              <a:solidFill>
                <a:schemeClr val="tx1">
                  <a:lumMod val="95000"/>
                </a:schemeClr>
              </a:solidFill>
            </a:endParaRPr>
          </a:p>
          <a:p>
            <a:pPr>
              <a:buNone/>
            </a:pPr>
            <a:r>
              <a:rPr lang="en-US" sz="1100">
                <a:solidFill>
                  <a:schemeClr val="tx1">
                    <a:lumMod val="95000"/>
                  </a:schemeClr>
                </a:solidFill>
                <a:highlight>
                  <a:srgbClr val="1A1B26"/>
                </a:highlight>
                <a:latin typeface="Consolas"/>
              </a:rPr>
              <a:t>  MATCH FOUND!</a:t>
            </a:r>
            <a:endParaRPr lang="en-US">
              <a:solidFill>
                <a:schemeClr val="tx1">
                  <a:lumMod val="95000"/>
                </a:schemeClr>
              </a:solidFill>
            </a:endParaRPr>
          </a:p>
          <a:p>
            <a:pPr>
              <a:buNone/>
            </a:pPr>
            <a:r>
              <a:rPr lang="en-US" sz="1100">
                <a:solidFill>
                  <a:schemeClr val="tx1">
                    <a:lumMod val="95000"/>
                  </a:schemeClr>
                </a:solidFill>
                <a:highlight>
                  <a:srgbClr val="1A1B26"/>
                </a:highlight>
                <a:latin typeface="Consolas"/>
              </a:rPr>
              <a:t>  Record: {file: "auth.py", line: 4, snippet: "def create_access_token(user_id: str):"}</a:t>
            </a:r>
          </a:p>
          <a:p>
            <a:pPr>
              <a:buNone/>
            </a:pPr>
            <a:r>
              <a:rPr lang="en-US" sz="1100">
                <a:solidFill>
                  <a:schemeClr val="tx1">
                    <a:lumMod val="95000"/>
                  </a:schemeClr>
                </a:solidFill>
                <a:highlight>
                  <a:srgbClr val="1A1B26"/>
                </a:highlight>
                <a:latin typeface="Consolas"/>
              </a:rPr>
              <a:t>---&gt; like this if any match found it will record it and return the risk declared</a:t>
            </a:r>
          </a:p>
          <a:p>
            <a:pPr>
              <a:buNone/>
            </a:pPr>
            <a:endParaRPr lang="en-US" sz="1100">
              <a:solidFill>
                <a:srgbClr val="89DDFF"/>
              </a:solidFill>
              <a:highlight>
                <a:srgbClr val="1A1B26"/>
              </a:highlight>
              <a:latin typeface="Consolas"/>
            </a:endParaRPr>
          </a:p>
          <a:p>
            <a:pPr marL="0" indent="0">
              <a:buNone/>
            </a:pPr>
            <a:endParaRPr lang="en-US" sz="1100">
              <a:solidFill>
                <a:srgbClr val="89DDFF"/>
              </a:solidFill>
              <a:highlight>
                <a:srgbClr val="1A1B26"/>
              </a:highlight>
              <a:latin typeface="Consolas"/>
            </a:endParaRPr>
          </a:p>
          <a:p>
            <a:pPr marL="0" indent="0">
              <a:buNone/>
            </a:pPr>
            <a:endParaRPr lang="en-US" sz="1100">
              <a:solidFill>
                <a:srgbClr val="89DDFF"/>
              </a:solidFill>
              <a:highlight>
                <a:srgbClr val="1A1B26"/>
              </a:highlight>
              <a:latin typeface="Consolas"/>
            </a:endParaRPr>
          </a:p>
          <a:p>
            <a:pPr marL="171450" indent="-171450">
              <a:buFont typeface="Calibri" panose="020B0604020202020204" pitchFamily="34" charset="0"/>
              <a:buChar char="-"/>
            </a:pPr>
            <a:endParaRPr lang="en-US" sz="1100">
              <a:solidFill>
                <a:srgbClr val="C0CAF5"/>
              </a:solidFill>
              <a:highlight>
                <a:srgbClr val="1A1B26"/>
              </a:highlight>
              <a:latin typeface="Consolas"/>
            </a:endParaRPr>
          </a:p>
          <a:p>
            <a:pPr marL="0" indent="0">
              <a:buNone/>
            </a:pPr>
            <a:endParaRPr lang="en-US"/>
          </a:p>
        </p:txBody>
      </p:sp>
    </p:spTree>
    <p:extLst>
      <p:ext uri="{BB962C8B-B14F-4D97-AF65-F5344CB8AC3E}">
        <p14:creationId xmlns:p14="http://schemas.microsoft.com/office/powerpoint/2010/main" val="356959750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72AFE-41A3-E303-E78E-CA38C2549202}"/>
              </a:ext>
            </a:extLst>
          </p:cNvPr>
          <p:cNvSpPr>
            <a:spLocks noGrp="1"/>
          </p:cNvSpPr>
          <p:nvPr>
            <p:ph type="title"/>
          </p:nvPr>
        </p:nvSpPr>
        <p:spPr>
          <a:xfrm>
            <a:off x="308978" y="574798"/>
            <a:ext cx="9238434" cy="857559"/>
          </a:xfrm>
        </p:spPr>
        <p:txBody>
          <a:bodyPr/>
          <a:lstStyle/>
          <a:p>
            <a:r>
              <a:rPr lang="en-US"/>
              <a:t>Backend -</a:t>
            </a:r>
            <a:r>
              <a:rPr lang="en-US" sz="2200" b="0">
                <a:ea typeface="+mj-lt"/>
                <a:cs typeface="+mj-lt"/>
              </a:rPr>
              <a:t>Multi-Layer Readiness Evaluation</a:t>
            </a:r>
            <a:endParaRPr lang="en-US" sz="2200"/>
          </a:p>
        </p:txBody>
      </p:sp>
      <p:sp>
        <p:nvSpPr>
          <p:cNvPr id="3" name="Content Placeholder 2">
            <a:extLst>
              <a:ext uri="{FF2B5EF4-FFF2-40B4-BE49-F238E27FC236}">
                <a16:creationId xmlns:a16="http://schemas.microsoft.com/office/drawing/2014/main" id="{52170B5E-53B0-F2E6-A380-EE357B8422A3}"/>
              </a:ext>
            </a:extLst>
          </p:cNvPr>
          <p:cNvSpPr>
            <a:spLocks noGrp="1"/>
          </p:cNvSpPr>
          <p:nvPr>
            <p:ph idx="1"/>
          </p:nvPr>
        </p:nvSpPr>
        <p:spPr>
          <a:xfrm>
            <a:off x="577919" y="1692089"/>
            <a:ext cx="5518082" cy="5098675"/>
          </a:xfrm>
        </p:spPr>
        <p:txBody>
          <a:bodyPr vert="horz" lIns="91440" tIns="45720" rIns="91440" bIns="45720" rtlCol="0" anchor="t">
            <a:normAutofit fontScale="92500" lnSpcReduction="20000"/>
          </a:bodyPr>
          <a:lstStyle/>
          <a:p>
            <a:r>
              <a:rPr lang="en-US">
                <a:ea typeface="+mn-lt"/>
                <a:cs typeface="+mn-lt"/>
              </a:rPr>
              <a:t>To ensure accurate results, the system evaluates the project across </a:t>
            </a:r>
            <a:r>
              <a:rPr lang="en-US" b="1">
                <a:ea typeface="+mn-lt"/>
                <a:cs typeface="+mn-lt"/>
              </a:rPr>
              <a:t>9 architectural layers</a:t>
            </a:r>
            <a:r>
              <a:rPr lang="en-US">
                <a:ea typeface="+mn-lt"/>
                <a:cs typeface="+mn-lt"/>
              </a:rPr>
              <a:t>.</a:t>
            </a:r>
            <a:endParaRPr lang="en-US"/>
          </a:p>
          <a:p>
            <a:r>
              <a:rPr lang="en-US">
                <a:ea typeface="+mn-lt"/>
                <a:cs typeface="+mn-lt"/>
              </a:rPr>
              <a:t>These layers include:</a:t>
            </a:r>
            <a:endParaRPr lang="en-US"/>
          </a:p>
          <a:p>
            <a:r>
              <a:rPr lang="en-US">
                <a:ea typeface="+mn-lt"/>
                <a:cs typeface="+mn-lt"/>
              </a:rPr>
              <a:t>• Static rule analysis</a:t>
            </a:r>
            <a:br>
              <a:rPr lang="en-US">
                <a:ea typeface="+mn-lt"/>
                <a:cs typeface="+mn-lt"/>
              </a:rPr>
            </a:br>
            <a:r>
              <a:rPr lang="en-US">
                <a:ea typeface="+mn-lt"/>
                <a:cs typeface="+mn-lt"/>
              </a:rPr>
              <a:t> • Import dependency graph analysis</a:t>
            </a:r>
            <a:br>
              <a:rPr lang="en-US">
                <a:ea typeface="+mn-lt"/>
                <a:cs typeface="+mn-lt"/>
              </a:rPr>
            </a:br>
            <a:r>
              <a:rPr lang="en-US">
                <a:ea typeface="+mn-lt"/>
                <a:cs typeface="+mn-lt"/>
              </a:rPr>
              <a:t> • Code complexity metrics</a:t>
            </a:r>
            <a:br>
              <a:rPr lang="en-US">
                <a:ea typeface="+mn-lt"/>
                <a:cs typeface="+mn-lt"/>
              </a:rPr>
            </a:br>
            <a:r>
              <a:rPr lang="en-US">
                <a:ea typeface="+mn-lt"/>
                <a:cs typeface="+mn-lt"/>
              </a:rPr>
              <a:t> • Dependency health analysis</a:t>
            </a:r>
            <a:br>
              <a:rPr lang="en-US">
                <a:ea typeface="+mn-lt"/>
                <a:cs typeface="+mn-lt"/>
              </a:rPr>
            </a:br>
            <a:r>
              <a:rPr lang="en-US">
                <a:ea typeface="+mn-lt"/>
                <a:cs typeface="+mn-lt"/>
              </a:rPr>
              <a:t> • Test coverage analysis</a:t>
            </a:r>
            <a:br>
              <a:rPr lang="en-US">
                <a:ea typeface="+mn-lt"/>
                <a:cs typeface="+mn-lt"/>
              </a:rPr>
            </a:br>
            <a:r>
              <a:rPr lang="en-US">
                <a:ea typeface="+mn-lt"/>
                <a:cs typeface="+mn-lt"/>
              </a:rPr>
              <a:t> • API quality evaluation</a:t>
            </a:r>
            <a:br>
              <a:rPr lang="en-US">
                <a:ea typeface="+mn-lt"/>
                <a:cs typeface="+mn-lt"/>
              </a:rPr>
            </a:br>
            <a:r>
              <a:rPr lang="en-US">
                <a:ea typeface="+mn-lt"/>
                <a:cs typeface="+mn-lt"/>
              </a:rPr>
              <a:t> • Technical debt analysis</a:t>
            </a:r>
            <a:br>
              <a:rPr lang="en-US">
                <a:ea typeface="+mn-lt"/>
                <a:cs typeface="+mn-lt"/>
              </a:rPr>
            </a:br>
            <a:r>
              <a:rPr lang="en-US">
                <a:ea typeface="+mn-lt"/>
                <a:cs typeface="+mn-lt"/>
              </a:rPr>
              <a:t> • Environment configuration maturity</a:t>
            </a:r>
            <a:br>
              <a:rPr lang="en-US">
                <a:ea typeface="+mn-lt"/>
                <a:cs typeface="+mn-lt"/>
              </a:rPr>
            </a:br>
            <a:r>
              <a:rPr lang="en-US">
                <a:ea typeface="+mn-lt"/>
                <a:cs typeface="+mn-lt"/>
              </a:rPr>
              <a:t> • Observability and monitoring readiness</a:t>
            </a:r>
            <a:endParaRPr lang="en-US"/>
          </a:p>
          <a:p>
            <a:r>
              <a:rPr lang="en-US">
                <a:ea typeface="+mn-lt"/>
                <a:cs typeface="+mn-lt"/>
              </a:rPr>
              <a:t>These layers are executed </a:t>
            </a:r>
            <a:r>
              <a:rPr lang="en-US" b="1">
                <a:ea typeface="+mn-lt"/>
                <a:cs typeface="+mn-lt"/>
              </a:rPr>
              <a:t>in parallel using multi-thread processing</a:t>
            </a:r>
            <a:r>
              <a:rPr lang="en-US">
                <a:ea typeface="+mn-lt"/>
                <a:cs typeface="+mn-lt"/>
              </a:rPr>
              <a:t>, allowing large projects to be analyzed efficiently.</a:t>
            </a:r>
            <a:endParaRPr lang="en-US"/>
          </a:p>
          <a:p>
            <a:endParaRPr lang="en-US"/>
          </a:p>
        </p:txBody>
      </p:sp>
      <p:sp>
        <p:nvSpPr>
          <p:cNvPr id="4" name="Date Placeholder 3">
            <a:extLst>
              <a:ext uri="{FF2B5EF4-FFF2-40B4-BE49-F238E27FC236}">
                <a16:creationId xmlns:a16="http://schemas.microsoft.com/office/drawing/2014/main" id="{823540E9-2E9A-1D91-E521-88E2F675C635}"/>
              </a:ext>
            </a:extLst>
          </p:cNvPr>
          <p:cNvSpPr>
            <a:spLocks noGrp="1"/>
          </p:cNvSpPr>
          <p:nvPr>
            <p:ph type="dt" sz="half" idx="10"/>
          </p:nvPr>
        </p:nvSpPr>
        <p:spPr/>
        <p:txBody>
          <a:bodyPr/>
          <a:lstStyle/>
          <a:p>
            <a:fld id="{3005E3DB-B1E4-466C-982A-A3ED61E9855A}" type="datetime1">
              <a:rPr lang="en-US"/>
              <a:t>3/11/2026</a:t>
            </a:fld>
            <a:endParaRPr lang="en-US"/>
          </a:p>
        </p:txBody>
      </p:sp>
      <p:sp>
        <p:nvSpPr>
          <p:cNvPr id="5" name="Footer Placeholder 4">
            <a:extLst>
              <a:ext uri="{FF2B5EF4-FFF2-40B4-BE49-F238E27FC236}">
                <a16:creationId xmlns:a16="http://schemas.microsoft.com/office/drawing/2014/main" id="{A5007A12-2BFC-EDEF-9F02-177B728389E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EFAE05C-EB72-2B2D-8CC3-9F000DEF2A77}"/>
              </a:ext>
            </a:extLst>
          </p:cNvPr>
          <p:cNvSpPr>
            <a:spLocks noGrp="1"/>
          </p:cNvSpPr>
          <p:nvPr>
            <p:ph type="sldNum" sz="quarter" idx="12"/>
          </p:nvPr>
        </p:nvSpPr>
        <p:spPr/>
        <p:txBody>
          <a:bodyPr/>
          <a:lstStyle/>
          <a:p>
            <a:fld id="{196A61CA-0502-4EE4-9724-96EA822543E5}" type="slidenum">
              <a:rPr lang="en-US" dirty="0"/>
              <a:t>15</a:t>
            </a:fld>
            <a:endParaRPr lang="en-US"/>
          </a:p>
        </p:txBody>
      </p:sp>
      <p:pic>
        <p:nvPicPr>
          <p:cNvPr id="7" name="Picture 6">
            <a:extLst>
              <a:ext uri="{FF2B5EF4-FFF2-40B4-BE49-F238E27FC236}">
                <a16:creationId xmlns:a16="http://schemas.microsoft.com/office/drawing/2014/main" id="{1B88C42C-9126-0944-E414-9A766547AB5C}"/>
              </a:ext>
            </a:extLst>
          </p:cNvPr>
          <p:cNvPicPr>
            <a:picLocks noChangeAspect="1"/>
          </p:cNvPicPr>
          <p:nvPr/>
        </p:nvPicPr>
        <p:blipFill>
          <a:blip r:embed="rId2"/>
          <a:stretch>
            <a:fillRect/>
          </a:stretch>
        </p:blipFill>
        <p:spPr>
          <a:xfrm>
            <a:off x="5557559" y="1327897"/>
            <a:ext cx="6791885" cy="5703795"/>
          </a:xfrm>
          <a:prstGeom prst="rect">
            <a:avLst/>
          </a:prstGeom>
        </p:spPr>
      </p:pic>
    </p:spTree>
    <p:extLst>
      <p:ext uri="{BB962C8B-B14F-4D97-AF65-F5344CB8AC3E}">
        <p14:creationId xmlns:p14="http://schemas.microsoft.com/office/powerpoint/2010/main" val="190736718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D1AB1-79F1-C4F8-B8DB-C8739016755E}"/>
              </a:ext>
            </a:extLst>
          </p:cNvPr>
          <p:cNvSpPr>
            <a:spLocks noGrp="1"/>
          </p:cNvSpPr>
          <p:nvPr>
            <p:ph type="title"/>
          </p:nvPr>
        </p:nvSpPr>
        <p:spPr>
          <a:xfrm>
            <a:off x="252948" y="675651"/>
            <a:ext cx="9238434" cy="857559"/>
          </a:xfrm>
        </p:spPr>
        <p:txBody>
          <a:bodyPr/>
          <a:lstStyle/>
          <a:p>
            <a:r>
              <a:rPr lang="en-US"/>
              <a:t>Backend -</a:t>
            </a:r>
            <a:r>
              <a:rPr lang="en-US" sz="2200" b="0">
                <a:ea typeface="+mj-lt"/>
                <a:cs typeface="+mj-lt"/>
              </a:rPr>
              <a:t>Weighted AI Readiness Scoring Model</a:t>
            </a:r>
            <a:endParaRPr lang="en-US" sz="2200"/>
          </a:p>
        </p:txBody>
      </p:sp>
      <p:sp>
        <p:nvSpPr>
          <p:cNvPr id="3" name="Content Placeholder 2">
            <a:extLst>
              <a:ext uri="{FF2B5EF4-FFF2-40B4-BE49-F238E27FC236}">
                <a16:creationId xmlns:a16="http://schemas.microsoft.com/office/drawing/2014/main" id="{835CEBD1-3681-CDCA-9439-5E6D2A4F5452}"/>
              </a:ext>
            </a:extLst>
          </p:cNvPr>
          <p:cNvSpPr>
            <a:spLocks noGrp="1"/>
          </p:cNvSpPr>
          <p:nvPr>
            <p:ph idx="1"/>
          </p:nvPr>
        </p:nvSpPr>
        <p:spPr>
          <a:xfrm>
            <a:off x="409829" y="1792942"/>
            <a:ext cx="10863288" cy="4740087"/>
          </a:xfrm>
        </p:spPr>
        <p:txBody>
          <a:bodyPr vert="horz" lIns="91440" tIns="45720" rIns="91440" bIns="45720" rtlCol="0" anchor="t">
            <a:normAutofit fontScale="92500" lnSpcReduction="10000"/>
          </a:bodyPr>
          <a:lstStyle/>
          <a:p>
            <a:r>
              <a:rPr lang="en-US" dirty="0">
                <a:ea typeface="+mn-lt"/>
                <a:cs typeface="+mn-lt"/>
              </a:rPr>
              <a:t>The system calculates the final AI readiness score using a automated </a:t>
            </a:r>
            <a:r>
              <a:rPr lang="en-US" b="1" dirty="0">
                <a:ea typeface="+mn-lt"/>
                <a:cs typeface="+mn-lt"/>
              </a:rPr>
              <a:t>weighted scoring algorithm</a:t>
            </a:r>
            <a:r>
              <a:rPr lang="en-US" dirty="0">
                <a:ea typeface="+mn-lt"/>
                <a:cs typeface="+mn-lt"/>
              </a:rPr>
              <a:t>.</a:t>
            </a:r>
            <a:endParaRPr lang="en-US" dirty="0"/>
          </a:p>
          <a:p>
            <a:r>
              <a:rPr lang="en-US" dirty="0">
                <a:ea typeface="+mn-lt"/>
                <a:cs typeface="+mn-lt"/>
              </a:rPr>
              <a:t>Each analysis layer contributes to the final score with different importance levels.</a:t>
            </a:r>
            <a:endParaRPr lang="en-US" dirty="0"/>
          </a:p>
          <a:p>
            <a:r>
              <a:rPr lang="en-US" dirty="0">
                <a:ea typeface="+mn-lt"/>
                <a:cs typeface="+mn-lt"/>
              </a:rPr>
              <a:t>Example weight distribution:</a:t>
            </a:r>
            <a:endParaRPr lang="en-US" dirty="0"/>
          </a:p>
          <a:p>
            <a:r>
              <a:rPr lang="en-US" dirty="0">
                <a:ea typeface="+mn-lt"/>
                <a:cs typeface="+mn-lt"/>
              </a:rPr>
              <a:t>• </a:t>
            </a:r>
            <a:r>
              <a:rPr lang="en-US" b="1" dirty="0">
                <a:ea typeface="+mn-lt"/>
                <a:cs typeface="+mn-lt"/>
              </a:rPr>
              <a:t>Static security rules – 30%</a:t>
            </a:r>
            <a:br>
              <a:rPr lang="en-US" b="1" dirty="0">
                <a:ea typeface="+mn-lt"/>
                <a:cs typeface="+mn-lt"/>
              </a:rPr>
            </a:br>
            <a:r>
              <a:rPr lang="en-US" b="1" dirty="0">
                <a:ea typeface="+mn-lt"/>
                <a:cs typeface="+mn-lt"/>
              </a:rPr>
              <a:t> • Import graph structure – 15%</a:t>
            </a:r>
            <a:br>
              <a:rPr lang="en-US" b="1" dirty="0">
                <a:ea typeface="+mn-lt"/>
                <a:cs typeface="+mn-lt"/>
              </a:rPr>
            </a:br>
            <a:r>
              <a:rPr lang="en-US" b="1" dirty="0">
                <a:ea typeface="+mn-lt"/>
                <a:cs typeface="+mn-lt"/>
              </a:rPr>
              <a:t> • Code complexity metrics – 10%</a:t>
            </a:r>
            <a:br>
              <a:rPr lang="en-US" b="1" dirty="0">
                <a:ea typeface="+mn-lt"/>
                <a:cs typeface="+mn-lt"/>
              </a:rPr>
            </a:br>
            <a:r>
              <a:rPr lang="en-US" b="1" dirty="0">
                <a:ea typeface="+mn-lt"/>
                <a:cs typeface="+mn-lt"/>
              </a:rPr>
              <a:t> • Dependency health – 10%</a:t>
            </a:r>
            <a:br>
              <a:rPr lang="en-US" b="1" dirty="0">
                <a:ea typeface="+mn-lt"/>
                <a:cs typeface="+mn-lt"/>
              </a:rPr>
            </a:br>
            <a:r>
              <a:rPr lang="en-US" b="1" dirty="0">
                <a:ea typeface="+mn-lt"/>
                <a:cs typeface="+mn-lt"/>
              </a:rPr>
              <a:t> • Test coverage – 10%</a:t>
            </a:r>
            <a:br>
              <a:rPr lang="en-US" b="1" dirty="0">
                <a:ea typeface="+mn-lt"/>
                <a:cs typeface="+mn-lt"/>
              </a:rPr>
            </a:br>
            <a:r>
              <a:rPr lang="en-US" b="1" dirty="0">
                <a:ea typeface="+mn-lt"/>
                <a:cs typeface="+mn-lt"/>
              </a:rPr>
              <a:t> • API quality – 8%</a:t>
            </a:r>
            <a:br>
              <a:rPr lang="en-US" b="1" dirty="0">
                <a:ea typeface="+mn-lt"/>
                <a:cs typeface="+mn-lt"/>
              </a:rPr>
            </a:br>
            <a:r>
              <a:rPr lang="en-US" b="1" dirty="0">
                <a:ea typeface="+mn-lt"/>
                <a:cs typeface="+mn-lt"/>
              </a:rPr>
              <a:t> • Technical debt – 7%</a:t>
            </a:r>
            <a:br>
              <a:rPr lang="en-US" b="1" dirty="0">
                <a:ea typeface="+mn-lt"/>
                <a:cs typeface="+mn-lt"/>
              </a:rPr>
            </a:br>
            <a:r>
              <a:rPr lang="en-US" b="1" dirty="0">
                <a:ea typeface="+mn-lt"/>
                <a:cs typeface="+mn-lt"/>
              </a:rPr>
              <a:t> • Environment configuration – 5%</a:t>
            </a:r>
            <a:br>
              <a:rPr lang="en-US" b="1" dirty="0">
                <a:ea typeface="+mn-lt"/>
                <a:cs typeface="+mn-lt"/>
              </a:rPr>
            </a:br>
            <a:r>
              <a:rPr lang="en-US" b="1" dirty="0">
                <a:ea typeface="+mn-lt"/>
                <a:cs typeface="+mn-lt"/>
              </a:rPr>
              <a:t> • Observability – 5%</a:t>
            </a:r>
            <a:endParaRPr lang="en-US" dirty="0"/>
          </a:p>
          <a:p>
            <a:r>
              <a:rPr lang="en-US" dirty="0">
                <a:ea typeface="+mn-lt"/>
                <a:cs typeface="+mn-lt"/>
              </a:rPr>
              <a:t>The final score is automatically calculated and normalized between </a:t>
            </a:r>
            <a:r>
              <a:rPr lang="en-US" b="1" dirty="0">
                <a:ea typeface="+mn-lt"/>
                <a:cs typeface="+mn-lt"/>
              </a:rPr>
              <a:t>0 and 100</a:t>
            </a:r>
            <a:r>
              <a:rPr lang="en-US" dirty="0">
                <a:ea typeface="+mn-lt"/>
                <a:cs typeface="+mn-lt"/>
              </a:rPr>
              <a:t>. </a:t>
            </a:r>
            <a:endParaRPr lang="en-US" dirty="0"/>
          </a:p>
          <a:p>
            <a:endParaRPr lang="en-US" dirty="0"/>
          </a:p>
        </p:txBody>
      </p:sp>
      <p:sp>
        <p:nvSpPr>
          <p:cNvPr id="4" name="Date Placeholder 3">
            <a:extLst>
              <a:ext uri="{FF2B5EF4-FFF2-40B4-BE49-F238E27FC236}">
                <a16:creationId xmlns:a16="http://schemas.microsoft.com/office/drawing/2014/main" id="{4EDF4A15-8164-6BA0-0C82-F5ECF1140D11}"/>
              </a:ext>
            </a:extLst>
          </p:cNvPr>
          <p:cNvSpPr>
            <a:spLocks noGrp="1"/>
          </p:cNvSpPr>
          <p:nvPr>
            <p:ph type="dt" sz="half" idx="10"/>
          </p:nvPr>
        </p:nvSpPr>
        <p:spPr/>
        <p:txBody>
          <a:bodyPr/>
          <a:lstStyle/>
          <a:p>
            <a:fld id="{582B909D-A4D8-40BE-8DDD-7EEB8036D46F}" type="datetime1">
              <a:rPr lang="en-US"/>
              <a:t>3/11/2026</a:t>
            </a:fld>
            <a:endParaRPr lang="en-US"/>
          </a:p>
        </p:txBody>
      </p:sp>
      <p:sp>
        <p:nvSpPr>
          <p:cNvPr id="5" name="Footer Placeholder 4">
            <a:extLst>
              <a:ext uri="{FF2B5EF4-FFF2-40B4-BE49-F238E27FC236}">
                <a16:creationId xmlns:a16="http://schemas.microsoft.com/office/drawing/2014/main" id="{11B77730-AD46-8C4A-ED23-4CC7BEAD0D8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D543B2B-DBA2-B51B-2A1C-FEAB5C8CB974}"/>
              </a:ext>
            </a:extLst>
          </p:cNvPr>
          <p:cNvSpPr>
            <a:spLocks noGrp="1"/>
          </p:cNvSpPr>
          <p:nvPr>
            <p:ph type="sldNum" sz="quarter" idx="12"/>
          </p:nvPr>
        </p:nvSpPr>
        <p:spPr/>
        <p:txBody>
          <a:bodyPr/>
          <a:lstStyle/>
          <a:p>
            <a:fld id="{196A61CA-0502-4EE4-9724-96EA822543E5}" type="slidenum">
              <a:rPr lang="en-US" dirty="0"/>
              <a:t>16</a:t>
            </a:fld>
            <a:endParaRPr lang="en-US"/>
          </a:p>
        </p:txBody>
      </p:sp>
    </p:spTree>
    <p:extLst>
      <p:ext uri="{BB962C8B-B14F-4D97-AF65-F5344CB8AC3E}">
        <p14:creationId xmlns:p14="http://schemas.microsoft.com/office/powerpoint/2010/main" val="354790290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1E696-A155-542F-2B2E-693A13A7F83D}"/>
              </a:ext>
            </a:extLst>
          </p:cNvPr>
          <p:cNvSpPr>
            <a:spLocks noGrp="1"/>
          </p:cNvSpPr>
          <p:nvPr>
            <p:ph type="title"/>
          </p:nvPr>
        </p:nvSpPr>
        <p:spPr/>
        <p:txBody>
          <a:bodyPr/>
          <a:lstStyle/>
          <a:p>
            <a:r>
              <a:rPr lang="en-US"/>
              <a:t>Data Storage</a:t>
            </a:r>
          </a:p>
        </p:txBody>
      </p:sp>
      <p:sp>
        <p:nvSpPr>
          <p:cNvPr id="3" name="Content Placeholder 2">
            <a:extLst>
              <a:ext uri="{FF2B5EF4-FFF2-40B4-BE49-F238E27FC236}">
                <a16:creationId xmlns:a16="http://schemas.microsoft.com/office/drawing/2014/main" id="{03649120-1983-8C22-9FAC-90679178D3C3}"/>
              </a:ext>
            </a:extLst>
          </p:cNvPr>
          <p:cNvSpPr>
            <a:spLocks noGrp="1"/>
          </p:cNvSpPr>
          <p:nvPr>
            <p:ph idx="1"/>
          </p:nvPr>
        </p:nvSpPr>
        <p:spPr/>
        <p:txBody>
          <a:bodyPr vert="horz" lIns="91440" tIns="45720" rIns="91440" bIns="45720" rtlCol="0" anchor="t">
            <a:normAutofit fontScale="92500" lnSpcReduction="10000"/>
          </a:bodyPr>
          <a:lstStyle/>
          <a:p>
            <a:r>
              <a:rPr lang="en-US">
                <a:ea typeface="+mn-lt"/>
                <a:cs typeface="+mn-lt"/>
              </a:rPr>
              <a:t>The system uses </a:t>
            </a:r>
            <a:r>
              <a:rPr lang="en-US" b="1">
                <a:ea typeface="+mn-lt"/>
                <a:cs typeface="+mn-lt"/>
              </a:rPr>
              <a:t>MongoDB</a:t>
            </a:r>
            <a:r>
              <a:rPr lang="en-US">
                <a:ea typeface="+mn-lt"/>
                <a:cs typeface="+mn-lt"/>
              </a:rPr>
              <a:t> as the primary database to store user and assessment data.</a:t>
            </a:r>
            <a:endParaRPr lang="en-US"/>
          </a:p>
          <a:p>
            <a:r>
              <a:rPr lang="en-US">
                <a:ea typeface="+mn-lt"/>
                <a:cs typeface="+mn-lt"/>
              </a:rPr>
              <a:t>User information such as </a:t>
            </a:r>
            <a:r>
              <a:rPr lang="en-US" b="1">
                <a:ea typeface="+mn-lt"/>
                <a:cs typeface="+mn-lt"/>
              </a:rPr>
              <a:t>email, profile details, and authentication credentials</a:t>
            </a:r>
            <a:r>
              <a:rPr lang="en-US">
                <a:ea typeface="+mn-lt"/>
                <a:cs typeface="+mn-lt"/>
              </a:rPr>
              <a:t> are stored securely.</a:t>
            </a:r>
            <a:endParaRPr lang="en-US"/>
          </a:p>
          <a:p>
            <a:r>
              <a:rPr lang="en-US">
                <a:ea typeface="+mn-lt"/>
                <a:cs typeface="+mn-lt"/>
              </a:rPr>
              <a:t>Each project assessment is stored with </a:t>
            </a:r>
            <a:r>
              <a:rPr lang="en-US" b="1">
                <a:ea typeface="+mn-lt"/>
                <a:cs typeface="+mn-lt"/>
              </a:rPr>
              <a:t>project source, analysis status, and timestamps</a:t>
            </a:r>
            <a:r>
              <a:rPr lang="en-US">
                <a:ea typeface="+mn-lt"/>
                <a:cs typeface="+mn-lt"/>
              </a:rPr>
              <a:t>.</a:t>
            </a:r>
            <a:endParaRPr lang="en-US"/>
          </a:p>
          <a:p>
            <a:r>
              <a:rPr lang="en-US">
                <a:ea typeface="+mn-lt"/>
                <a:cs typeface="+mn-lt"/>
              </a:rPr>
              <a:t>After analysis, the database stores the </a:t>
            </a:r>
            <a:r>
              <a:rPr lang="en-US" b="1">
                <a:ea typeface="+mn-lt"/>
                <a:cs typeface="+mn-lt"/>
              </a:rPr>
              <a:t>AI readiness score and layer-wise evaluation results</a:t>
            </a:r>
            <a:r>
              <a:rPr lang="en-US">
                <a:ea typeface="+mn-lt"/>
                <a:cs typeface="+mn-lt"/>
              </a:rPr>
              <a:t>.</a:t>
            </a:r>
            <a:endParaRPr lang="en-US"/>
          </a:p>
          <a:p>
            <a:r>
              <a:rPr lang="en-US">
                <a:ea typeface="+mn-lt"/>
                <a:cs typeface="+mn-lt"/>
              </a:rPr>
              <a:t>The system also stores </a:t>
            </a:r>
            <a:r>
              <a:rPr lang="en-US" b="1">
                <a:ea typeface="+mn-lt"/>
                <a:cs typeface="+mn-lt"/>
              </a:rPr>
              <a:t>detected risks, improvement suggestions, and capability indicators</a:t>
            </a:r>
            <a:r>
              <a:rPr lang="en-US">
                <a:ea typeface="+mn-lt"/>
                <a:cs typeface="+mn-lt"/>
              </a:rPr>
              <a:t> for each project.</a:t>
            </a:r>
            <a:endParaRPr lang="en-US"/>
          </a:p>
          <a:p>
            <a:r>
              <a:rPr lang="en-US">
                <a:ea typeface="+mn-lt"/>
                <a:cs typeface="+mn-lt"/>
              </a:rPr>
              <a:t>Users can </a:t>
            </a:r>
            <a:r>
              <a:rPr lang="en-US" b="1">
                <a:ea typeface="+mn-lt"/>
                <a:cs typeface="+mn-lt"/>
              </a:rPr>
              <a:t>access previous assessments and review historical reports</a:t>
            </a:r>
            <a:r>
              <a:rPr lang="en-US">
                <a:ea typeface="+mn-lt"/>
                <a:cs typeface="+mn-lt"/>
              </a:rPr>
              <a:t> from the dashboard.</a:t>
            </a:r>
            <a:endParaRPr lang="en-US"/>
          </a:p>
          <a:p>
            <a:r>
              <a:rPr lang="en-US">
                <a:ea typeface="+mn-lt"/>
                <a:cs typeface="+mn-lt"/>
              </a:rPr>
              <a:t>Detailed analysis reports are also saved in </a:t>
            </a:r>
            <a:r>
              <a:rPr lang="en-US" b="1">
                <a:ea typeface="+mn-lt"/>
                <a:cs typeface="+mn-lt"/>
              </a:rPr>
              <a:t>log files for debugging and auditing purposes</a:t>
            </a:r>
            <a:r>
              <a:rPr lang="en-US">
                <a:ea typeface="+mn-lt"/>
                <a:cs typeface="+mn-lt"/>
              </a:rPr>
              <a:t>.</a:t>
            </a:r>
            <a:endParaRPr lang="en-US"/>
          </a:p>
          <a:p>
            <a:endParaRPr lang="en-US"/>
          </a:p>
        </p:txBody>
      </p:sp>
      <p:sp>
        <p:nvSpPr>
          <p:cNvPr id="4" name="Date Placeholder 3">
            <a:extLst>
              <a:ext uri="{FF2B5EF4-FFF2-40B4-BE49-F238E27FC236}">
                <a16:creationId xmlns:a16="http://schemas.microsoft.com/office/drawing/2014/main" id="{C43A7403-5B75-A159-11C0-ADA42608BE9B}"/>
              </a:ext>
            </a:extLst>
          </p:cNvPr>
          <p:cNvSpPr>
            <a:spLocks noGrp="1"/>
          </p:cNvSpPr>
          <p:nvPr>
            <p:ph type="dt" sz="half" idx="10"/>
          </p:nvPr>
        </p:nvSpPr>
        <p:spPr/>
        <p:txBody>
          <a:bodyPr/>
          <a:lstStyle/>
          <a:p>
            <a:fld id="{4DCDBF1C-70E8-4F4A-8F38-3F1824A315C6}" type="datetime1">
              <a:t>3/11/2026</a:t>
            </a:fld>
            <a:endParaRPr lang="en-US"/>
          </a:p>
        </p:txBody>
      </p:sp>
      <p:sp>
        <p:nvSpPr>
          <p:cNvPr id="5" name="Footer Placeholder 4">
            <a:extLst>
              <a:ext uri="{FF2B5EF4-FFF2-40B4-BE49-F238E27FC236}">
                <a16:creationId xmlns:a16="http://schemas.microsoft.com/office/drawing/2014/main" id="{951A1C43-2E62-CC33-5829-18ABA002F6E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99EB912-4275-DF3A-C9BB-1F7DD8EAC3F5}"/>
              </a:ext>
            </a:extLst>
          </p:cNvPr>
          <p:cNvSpPr>
            <a:spLocks noGrp="1"/>
          </p:cNvSpPr>
          <p:nvPr>
            <p:ph type="sldNum" sz="quarter" idx="12"/>
          </p:nvPr>
        </p:nvSpPr>
        <p:spPr/>
        <p:txBody>
          <a:bodyPr/>
          <a:lstStyle/>
          <a:p>
            <a:fld id="{196A61CA-0502-4EE4-9724-96EA822543E5}" type="slidenum">
              <a:rPr lang="en-US" dirty="0"/>
              <a:t>17</a:t>
            </a:fld>
            <a:endParaRPr lang="en-US"/>
          </a:p>
        </p:txBody>
      </p:sp>
    </p:spTree>
    <p:extLst>
      <p:ext uri="{BB962C8B-B14F-4D97-AF65-F5344CB8AC3E}">
        <p14:creationId xmlns:p14="http://schemas.microsoft.com/office/powerpoint/2010/main" val="4234651163"/>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46701-5CCD-F665-3513-FE2EE051A1D1}"/>
              </a:ext>
            </a:extLst>
          </p:cNvPr>
          <p:cNvSpPr>
            <a:spLocks noGrp="1"/>
          </p:cNvSpPr>
          <p:nvPr>
            <p:ph type="title"/>
          </p:nvPr>
        </p:nvSpPr>
        <p:spPr/>
        <p:txBody>
          <a:bodyPr/>
          <a:lstStyle/>
          <a:p>
            <a:r>
              <a:rPr lang="en-US" b="0">
                <a:ea typeface="+mj-lt"/>
                <a:cs typeface="+mj-lt"/>
              </a:rPr>
              <a:t>AI Readiness Report Generation</a:t>
            </a:r>
            <a:endParaRPr lang="en-US"/>
          </a:p>
        </p:txBody>
      </p:sp>
      <p:sp>
        <p:nvSpPr>
          <p:cNvPr id="3" name="Content Placeholder 2">
            <a:extLst>
              <a:ext uri="{FF2B5EF4-FFF2-40B4-BE49-F238E27FC236}">
                <a16:creationId xmlns:a16="http://schemas.microsoft.com/office/drawing/2014/main" id="{EC99FF22-D653-C238-DC68-B9DE16BCB11F}"/>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After computing the final readiness score, the system generates a detailed report.</a:t>
            </a:r>
            <a:endParaRPr lang="en-US"/>
          </a:p>
          <a:p>
            <a:pPr marL="0" indent="0">
              <a:buNone/>
            </a:pPr>
            <a:r>
              <a:rPr lang="en-US">
                <a:ea typeface="+mn-lt"/>
                <a:cs typeface="+mn-lt"/>
              </a:rPr>
              <a:t>The report includes:</a:t>
            </a:r>
            <a:endParaRPr lang="en-US"/>
          </a:p>
          <a:p>
            <a:pPr marL="0" indent="0">
              <a:buNone/>
            </a:pPr>
            <a:r>
              <a:rPr lang="en-US">
                <a:ea typeface="+mn-lt"/>
                <a:cs typeface="+mn-lt"/>
              </a:rPr>
              <a:t>• Overall AI readiness score</a:t>
            </a:r>
            <a:br>
              <a:rPr lang="en-US">
                <a:ea typeface="+mn-lt"/>
                <a:cs typeface="+mn-lt"/>
              </a:rPr>
            </a:br>
            <a:r>
              <a:rPr lang="en-US">
                <a:ea typeface="+mn-lt"/>
                <a:cs typeface="+mn-lt"/>
              </a:rPr>
              <a:t> • Security and architectural risk analysis</a:t>
            </a:r>
            <a:br>
              <a:rPr lang="en-US">
                <a:ea typeface="+mn-lt"/>
                <a:cs typeface="+mn-lt"/>
              </a:rPr>
            </a:br>
            <a:r>
              <a:rPr lang="en-US">
                <a:ea typeface="+mn-lt"/>
                <a:cs typeface="+mn-lt"/>
              </a:rPr>
              <a:t> • Layer-wise performance evaluation</a:t>
            </a:r>
            <a:br>
              <a:rPr lang="en-US">
                <a:ea typeface="+mn-lt"/>
                <a:cs typeface="+mn-lt"/>
              </a:rPr>
            </a:br>
            <a:r>
              <a:rPr lang="en-US">
                <a:ea typeface="+mn-lt"/>
                <a:cs typeface="+mn-lt"/>
              </a:rPr>
              <a:t> • Capability detection (authentication, logging, API quality)</a:t>
            </a:r>
            <a:br>
              <a:rPr lang="en-US">
                <a:ea typeface="+mn-lt"/>
                <a:cs typeface="+mn-lt"/>
              </a:rPr>
            </a:br>
            <a:r>
              <a:rPr lang="en-US">
                <a:ea typeface="+mn-lt"/>
                <a:cs typeface="+mn-lt"/>
              </a:rPr>
              <a:t> • Risk register with severity levels</a:t>
            </a:r>
            <a:br>
              <a:rPr lang="en-US">
                <a:ea typeface="+mn-lt"/>
                <a:cs typeface="+mn-lt"/>
              </a:rPr>
            </a:br>
            <a:r>
              <a:rPr lang="en-US">
                <a:ea typeface="+mn-lt"/>
                <a:cs typeface="+mn-lt"/>
              </a:rPr>
              <a:t> • Improvement recommendations to reach </a:t>
            </a:r>
            <a:r>
              <a:rPr lang="en-US" b="1">
                <a:ea typeface="+mn-lt"/>
                <a:cs typeface="+mn-lt"/>
              </a:rPr>
              <a:t>AI-ready status</a:t>
            </a:r>
            <a:endParaRPr lang="en-US"/>
          </a:p>
          <a:p>
            <a:pPr marL="0" indent="0">
              <a:buNone/>
            </a:pPr>
            <a:r>
              <a:rPr lang="en-US">
                <a:ea typeface="+mn-lt"/>
                <a:cs typeface="+mn-lt"/>
              </a:rPr>
              <a:t>The report is stored in the database and can be exported as </a:t>
            </a:r>
            <a:r>
              <a:rPr lang="en-US" b="1">
                <a:ea typeface="+mn-lt"/>
                <a:cs typeface="+mn-lt"/>
              </a:rPr>
              <a:t>JSON, text, or PDF reports</a:t>
            </a:r>
            <a:r>
              <a:rPr lang="en-US">
                <a:ea typeface="+mn-lt"/>
                <a:cs typeface="+mn-lt"/>
              </a:rPr>
              <a:t>.</a:t>
            </a:r>
            <a:endParaRPr lang="en-US"/>
          </a:p>
          <a:p>
            <a:endParaRPr lang="en-US"/>
          </a:p>
        </p:txBody>
      </p:sp>
      <p:sp>
        <p:nvSpPr>
          <p:cNvPr id="4" name="Date Placeholder 3">
            <a:extLst>
              <a:ext uri="{FF2B5EF4-FFF2-40B4-BE49-F238E27FC236}">
                <a16:creationId xmlns:a16="http://schemas.microsoft.com/office/drawing/2014/main" id="{7CBFD010-4D47-CFB6-B66E-11A6D90768AE}"/>
              </a:ext>
            </a:extLst>
          </p:cNvPr>
          <p:cNvSpPr>
            <a:spLocks noGrp="1"/>
          </p:cNvSpPr>
          <p:nvPr>
            <p:ph type="dt" sz="half" idx="10"/>
          </p:nvPr>
        </p:nvSpPr>
        <p:spPr/>
        <p:txBody>
          <a:bodyPr/>
          <a:lstStyle/>
          <a:p>
            <a:fld id="{25E214B7-CDBB-4016-AC36-FFE9A62286D7}" type="datetime1">
              <a:t>3/11/2026</a:t>
            </a:fld>
            <a:endParaRPr lang="en-US"/>
          </a:p>
        </p:txBody>
      </p:sp>
      <p:sp>
        <p:nvSpPr>
          <p:cNvPr id="5" name="Footer Placeholder 4">
            <a:extLst>
              <a:ext uri="{FF2B5EF4-FFF2-40B4-BE49-F238E27FC236}">
                <a16:creationId xmlns:a16="http://schemas.microsoft.com/office/drawing/2014/main" id="{921EBE06-F025-D03D-3D38-B247218557C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ADAA630-364A-EC32-90B4-B2C5B4E634FF}"/>
              </a:ext>
            </a:extLst>
          </p:cNvPr>
          <p:cNvSpPr>
            <a:spLocks noGrp="1"/>
          </p:cNvSpPr>
          <p:nvPr>
            <p:ph type="sldNum" sz="quarter" idx="12"/>
          </p:nvPr>
        </p:nvSpPr>
        <p:spPr/>
        <p:txBody>
          <a:bodyPr/>
          <a:lstStyle/>
          <a:p>
            <a:fld id="{196A61CA-0502-4EE4-9724-96EA822543E5}" type="slidenum">
              <a:rPr lang="en-US" dirty="0"/>
              <a:t>18</a:t>
            </a:fld>
            <a:endParaRPr lang="en-US"/>
          </a:p>
        </p:txBody>
      </p:sp>
    </p:spTree>
    <p:extLst>
      <p:ext uri="{BB962C8B-B14F-4D97-AF65-F5344CB8AC3E}">
        <p14:creationId xmlns:p14="http://schemas.microsoft.com/office/powerpoint/2010/main" val="2607846964"/>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B15B6-D71E-FB6A-6267-DEAA3CB4D906}"/>
              </a:ext>
            </a:extLst>
          </p:cNvPr>
          <p:cNvSpPr>
            <a:spLocks noGrp="1"/>
          </p:cNvSpPr>
          <p:nvPr>
            <p:ph type="title"/>
          </p:nvPr>
        </p:nvSpPr>
        <p:spPr/>
        <p:txBody>
          <a:bodyPr/>
          <a:lstStyle/>
          <a:p>
            <a:r>
              <a:rPr lang="en-US"/>
              <a:t>Future enhancements</a:t>
            </a:r>
          </a:p>
        </p:txBody>
      </p:sp>
      <p:sp>
        <p:nvSpPr>
          <p:cNvPr id="3" name="Content Placeholder 2">
            <a:extLst>
              <a:ext uri="{FF2B5EF4-FFF2-40B4-BE49-F238E27FC236}">
                <a16:creationId xmlns:a16="http://schemas.microsoft.com/office/drawing/2014/main" id="{F7E35396-DDDD-9708-7430-BEC84D8D9F00}"/>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 Integrate </a:t>
            </a:r>
            <a:r>
              <a:rPr lang="en-US" b="1">
                <a:ea typeface="+mn-lt"/>
                <a:cs typeface="+mn-lt"/>
              </a:rPr>
              <a:t>Large Language Models (LLMs)</a:t>
            </a:r>
            <a:r>
              <a:rPr lang="en-US">
                <a:ea typeface="+mn-lt"/>
                <a:cs typeface="+mn-lt"/>
              </a:rPr>
              <a:t> to perform deeper semantic analysis of code and project documentation.</a:t>
            </a:r>
            <a:br>
              <a:rPr lang="en-US">
                <a:ea typeface="+mn-lt"/>
                <a:cs typeface="+mn-lt"/>
              </a:rPr>
            </a:br>
            <a:r>
              <a:rPr lang="en-US">
                <a:ea typeface="+mn-lt"/>
                <a:cs typeface="+mn-lt"/>
              </a:rPr>
              <a:t> • Support </a:t>
            </a:r>
            <a:r>
              <a:rPr lang="en-US" b="1">
                <a:ea typeface="+mn-lt"/>
                <a:cs typeface="+mn-lt"/>
              </a:rPr>
              <a:t>multimodal data analysis</a:t>
            </a:r>
            <a:r>
              <a:rPr lang="en-US">
                <a:ea typeface="+mn-lt"/>
                <a:cs typeface="+mn-lt"/>
              </a:rPr>
              <a:t>, allowing the system to evaluate source code, technical documents, and architecture diagrams together.</a:t>
            </a:r>
            <a:br>
              <a:rPr lang="en-US">
                <a:ea typeface="+mn-lt"/>
                <a:cs typeface="+mn-lt"/>
              </a:rPr>
            </a:br>
            <a:r>
              <a:rPr lang="en-US">
                <a:ea typeface="+mn-lt"/>
                <a:cs typeface="+mn-lt"/>
              </a:rPr>
              <a:t> • Implement </a:t>
            </a:r>
            <a:r>
              <a:rPr lang="en-US" b="1">
                <a:ea typeface="+mn-lt"/>
                <a:cs typeface="+mn-lt"/>
              </a:rPr>
              <a:t>AI-powered recommendation systems</a:t>
            </a:r>
            <a:r>
              <a:rPr lang="en-US">
                <a:ea typeface="+mn-lt"/>
                <a:cs typeface="+mn-lt"/>
              </a:rPr>
              <a:t> to automatically suggest improvements for AI readiness.</a:t>
            </a:r>
            <a:br>
              <a:rPr lang="en-US">
                <a:ea typeface="+mn-lt"/>
                <a:cs typeface="+mn-lt"/>
              </a:rPr>
            </a:br>
            <a:r>
              <a:rPr lang="en-US">
                <a:ea typeface="+mn-lt"/>
                <a:cs typeface="+mn-lt"/>
              </a:rPr>
              <a:t> • Enable integration with </a:t>
            </a:r>
            <a:r>
              <a:rPr lang="en-US" b="1">
                <a:ea typeface="+mn-lt"/>
                <a:cs typeface="+mn-lt"/>
              </a:rPr>
              <a:t>CI/CD pipelines</a:t>
            </a:r>
            <a:r>
              <a:rPr lang="en-US">
                <a:ea typeface="+mn-lt"/>
                <a:cs typeface="+mn-lt"/>
              </a:rPr>
              <a:t> to perform automated readiness assessments during development.</a:t>
            </a:r>
            <a:br>
              <a:rPr lang="en-US">
                <a:ea typeface="+mn-lt"/>
                <a:cs typeface="+mn-lt"/>
              </a:rPr>
            </a:br>
            <a:r>
              <a:rPr lang="en-US">
                <a:ea typeface="+mn-lt"/>
                <a:cs typeface="+mn-lt"/>
              </a:rPr>
              <a:t> • Expand support for </a:t>
            </a:r>
            <a:r>
              <a:rPr lang="en-US" b="1">
                <a:ea typeface="+mn-lt"/>
                <a:cs typeface="+mn-lt"/>
              </a:rPr>
              <a:t>additional programming languages and frameworks</a:t>
            </a:r>
            <a:r>
              <a:rPr lang="en-US">
                <a:ea typeface="+mn-lt"/>
                <a:cs typeface="+mn-lt"/>
              </a:rPr>
              <a:t>.</a:t>
            </a:r>
            <a:br>
              <a:rPr lang="en-US">
                <a:ea typeface="+mn-lt"/>
                <a:cs typeface="+mn-lt"/>
              </a:rPr>
            </a:br>
            <a:r>
              <a:rPr lang="en-US">
                <a:ea typeface="+mn-lt"/>
                <a:cs typeface="+mn-lt"/>
              </a:rPr>
              <a:t> • Develop </a:t>
            </a:r>
            <a:r>
              <a:rPr lang="en-US" b="1">
                <a:ea typeface="+mn-lt"/>
                <a:cs typeface="+mn-lt"/>
              </a:rPr>
              <a:t>real-time dashboards</a:t>
            </a:r>
            <a:r>
              <a:rPr lang="en-US">
                <a:ea typeface="+mn-lt"/>
                <a:cs typeface="+mn-lt"/>
              </a:rPr>
              <a:t> for continuous monitoring of AI readiness.</a:t>
            </a:r>
            <a:endParaRPr lang="en-US"/>
          </a:p>
        </p:txBody>
      </p:sp>
      <p:sp>
        <p:nvSpPr>
          <p:cNvPr id="4" name="Date Placeholder 3">
            <a:extLst>
              <a:ext uri="{FF2B5EF4-FFF2-40B4-BE49-F238E27FC236}">
                <a16:creationId xmlns:a16="http://schemas.microsoft.com/office/drawing/2014/main" id="{926B2FE0-D5A8-F818-91C2-9D60AC72D938}"/>
              </a:ext>
            </a:extLst>
          </p:cNvPr>
          <p:cNvSpPr>
            <a:spLocks noGrp="1"/>
          </p:cNvSpPr>
          <p:nvPr>
            <p:ph type="dt" sz="half" idx="10"/>
          </p:nvPr>
        </p:nvSpPr>
        <p:spPr/>
        <p:txBody>
          <a:bodyPr/>
          <a:lstStyle/>
          <a:p>
            <a:fld id="{5A991CC3-83AB-4244-9DEE-86DC2D144CCA}" type="datetime1">
              <a:t>3/11/2026</a:t>
            </a:fld>
            <a:endParaRPr lang="en-US"/>
          </a:p>
        </p:txBody>
      </p:sp>
      <p:sp>
        <p:nvSpPr>
          <p:cNvPr id="5" name="Footer Placeholder 4">
            <a:extLst>
              <a:ext uri="{FF2B5EF4-FFF2-40B4-BE49-F238E27FC236}">
                <a16:creationId xmlns:a16="http://schemas.microsoft.com/office/drawing/2014/main" id="{86D038C6-5731-95C0-88F6-DF4162ACB370}"/>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F3386C1-E440-70E2-B058-0E1AFD42CFFA}"/>
              </a:ext>
            </a:extLst>
          </p:cNvPr>
          <p:cNvSpPr>
            <a:spLocks noGrp="1"/>
          </p:cNvSpPr>
          <p:nvPr>
            <p:ph type="sldNum" sz="quarter" idx="12"/>
          </p:nvPr>
        </p:nvSpPr>
        <p:spPr/>
        <p:txBody>
          <a:bodyPr/>
          <a:lstStyle/>
          <a:p>
            <a:fld id="{196A61CA-0502-4EE4-9724-96EA822543E5}" type="slidenum">
              <a:rPr lang="en-US" dirty="0"/>
              <a:t>19</a:t>
            </a:fld>
            <a:endParaRPr lang="en-US"/>
          </a:p>
        </p:txBody>
      </p:sp>
    </p:spTree>
    <p:extLst>
      <p:ext uri="{BB962C8B-B14F-4D97-AF65-F5344CB8AC3E}">
        <p14:creationId xmlns:p14="http://schemas.microsoft.com/office/powerpoint/2010/main" val="242662829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63D86-1142-8E0B-2F3A-D9C6C3AE6B19}"/>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C1C8DD02-4536-9F2D-1159-ECD72EA323AB}"/>
              </a:ext>
            </a:extLst>
          </p:cNvPr>
          <p:cNvSpPr>
            <a:spLocks noGrp="1"/>
          </p:cNvSpPr>
          <p:nvPr>
            <p:ph idx="1"/>
          </p:nvPr>
        </p:nvSpPr>
        <p:spPr>
          <a:xfrm>
            <a:off x="1429566" y="2173941"/>
            <a:ext cx="9361698" cy="4336676"/>
          </a:xfrm>
        </p:spPr>
        <p:txBody>
          <a:bodyPr vert="horz" lIns="91440" tIns="45720" rIns="91440" bIns="45720" rtlCol="0" anchor="t">
            <a:normAutofit lnSpcReduction="10000"/>
          </a:bodyPr>
          <a:lstStyle/>
          <a:p>
            <a:pPr marL="0" indent="0">
              <a:buNone/>
            </a:pPr>
            <a:r>
              <a:rPr lang="en-US">
                <a:ea typeface="+mn-lt"/>
                <a:cs typeface="+mn-lt"/>
              </a:rPr>
              <a:t>The </a:t>
            </a:r>
            <a:r>
              <a:rPr lang="en-US" b="1">
                <a:ea typeface="+mn-lt"/>
                <a:cs typeface="+mn-lt"/>
              </a:rPr>
              <a:t>AI Readiness Assessment Tool</a:t>
            </a:r>
            <a:r>
              <a:rPr lang="en-US">
                <a:ea typeface="+mn-lt"/>
                <a:cs typeface="+mn-lt"/>
              </a:rPr>
              <a:t> provides an automated approach for evaluating whether existing software systems are prepared for AI integration. By analyzing project files using rule-based static analysis and a multi-layer evaluation framework, the system is able to examine important aspects such as security, architecture quality, API design, and infrastructure readiness.</a:t>
            </a:r>
            <a:endParaRPr lang="en-US"/>
          </a:p>
          <a:p>
            <a:pPr marL="0" indent="0">
              <a:buNone/>
            </a:pPr>
            <a:r>
              <a:rPr lang="en-US">
                <a:ea typeface="+mn-lt"/>
                <a:cs typeface="+mn-lt"/>
              </a:rPr>
              <a:t>The platform combines these results through a </a:t>
            </a:r>
            <a:r>
              <a:rPr lang="en-US" b="1">
                <a:ea typeface="+mn-lt"/>
                <a:cs typeface="+mn-lt"/>
              </a:rPr>
              <a:t>weighted scoring model</a:t>
            </a:r>
            <a:r>
              <a:rPr lang="en-US">
                <a:ea typeface="+mn-lt"/>
                <a:cs typeface="+mn-lt"/>
              </a:rPr>
              <a:t> to generate a clear AI readiness score along with detailed insights about risks and improvement areas. This allows developers and organizations to better understand the current limitations of their applications and the changes required to successfully adopt AI technologies.</a:t>
            </a:r>
            <a:endParaRPr lang="en-US"/>
          </a:p>
          <a:p>
            <a:pPr marL="0" indent="0">
              <a:buNone/>
            </a:pPr>
            <a:r>
              <a:rPr lang="en-US">
                <a:ea typeface="+mn-lt"/>
                <a:cs typeface="+mn-lt"/>
              </a:rPr>
              <a:t>Overall, the proposed system helps streamline the evaluation process and supports organizations in making </a:t>
            </a:r>
            <a:r>
              <a:rPr lang="en-US" b="1">
                <a:ea typeface="+mn-lt"/>
                <a:cs typeface="+mn-lt"/>
              </a:rPr>
              <a:t>more informed decisions about AI adoption and system modernization</a:t>
            </a:r>
            <a:r>
              <a:rPr lang="en-US">
                <a:ea typeface="+mn-lt"/>
                <a:cs typeface="+mn-lt"/>
              </a:rPr>
              <a:t>.</a:t>
            </a:r>
            <a:endParaRPr lang="en-US"/>
          </a:p>
          <a:p>
            <a:endParaRPr lang="en-US"/>
          </a:p>
        </p:txBody>
      </p:sp>
      <p:sp>
        <p:nvSpPr>
          <p:cNvPr id="4" name="Date Placeholder 3">
            <a:extLst>
              <a:ext uri="{FF2B5EF4-FFF2-40B4-BE49-F238E27FC236}">
                <a16:creationId xmlns:a16="http://schemas.microsoft.com/office/drawing/2014/main" id="{1E382D89-E439-F6A3-5AB1-0C14D208D8F6}"/>
              </a:ext>
            </a:extLst>
          </p:cNvPr>
          <p:cNvSpPr>
            <a:spLocks noGrp="1"/>
          </p:cNvSpPr>
          <p:nvPr>
            <p:ph type="dt" sz="half" idx="10"/>
          </p:nvPr>
        </p:nvSpPr>
        <p:spPr/>
        <p:txBody>
          <a:bodyPr/>
          <a:lstStyle/>
          <a:p>
            <a:fld id="{5DC5FAD1-EC76-46BD-A575-9E5F26E7E4B0}" type="datetime1">
              <a:t>3/11/2026</a:t>
            </a:fld>
            <a:endParaRPr lang="en-US"/>
          </a:p>
        </p:txBody>
      </p:sp>
      <p:sp>
        <p:nvSpPr>
          <p:cNvPr id="5" name="Footer Placeholder 4">
            <a:extLst>
              <a:ext uri="{FF2B5EF4-FFF2-40B4-BE49-F238E27FC236}">
                <a16:creationId xmlns:a16="http://schemas.microsoft.com/office/drawing/2014/main" id="{DA6A23A4-7847-EE8C-4701-911D2C1E1680}"/>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E1846E2-D5ED-9169-A183-A1D18BDFF827}"/>
              </a:ext>
            </a:extLst>
          </p:cNvPr>
          <p:cNvSpPr>
            <a:spLocks noGrp="1"/>
          </p:cNvSpPr>
          <p:nvPr>
            <p:ph type="sldNum" sz="quarter" idx="12"/>
          </p:nvPr>
        </p:nvSpPr>
        <p:spPr/>
        <p:txBody>
          <a:bodyPr/>
          <a:lstStyle/>
          <a:p>
            <a:fld id="{196A61CA-0502-4EE4-9724-96EA822543E5}" type="slidenum">
              <a:rPr lang="en-US" dirty="0"/>
              <a:t>20</a:t>
            </a:fld>
            <a:endParaRPr lang="en-US"/>
          </a:p>
        </p:txBody>
      </p:sp>
    </p:spTree>
    <p:extLst>
      <p:ext uri="{BB962C8B-B14F-4D97-AF65-F5344CB8AC3E}">
        <p14:creationId xmlns:p14="http://schemas.microsoft.com/office/powerpoint/2010/main" val="3736973158"/>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46D3A-9A6F-84FB-88CD-3C33110D11CA}"/>
              </a:ext>
            </a:extLst>
          </p:cNvPr>
          <p:cNvSpPr>
            <a:spLocks noGrp="1"/>
          </p:cNvSpPr>
          <p:nvPr>
            <p:ph type="title"/>
          </p:nvPr>
        </p:nvSpPr>
        <p:spPr>
          <a:xfrm>
            <a:off x="4376713" y="3226769"/>
            <a:ext cx="9238434" cy="861383"/>
          </a:xfrm>
        </p:spPr>
        <p:txBody>
          <a:bodyPr/>
          <a:lstStyle/>
          <a:p>
            <a:r>
              <a:rPr lang="en-US" sz="3500"/>
              <a:t>Thank you</a:t>
            </a:r>
          </a:p>
        </p:txBody>
      </p:sp>
      <p:sp>
        <p:nvSpPr>
          <p:cNvPr id="3" name="Date Placeholder 2">
            <a:extLst>
              <a:ext uri="{FF2B5EF4-FFF2-40B4-BE49-F238E27FC236}">
                <a16:creationId xmlns:a16="http://schemas.microsoft.com/office/drawing/2014/main" id="{843295FC-542A-126C-6F37-37D0276ECC46}"/>
              </a:ext>
            </a:extLst>
          </p:cNvPr>
          <p:cNvSpPr>
            <a:spLocks noGrp="1"/>
          </p:cNvSpPr>
          <p:nvPr>
            <p:ph type="dt" sz="half" idx="10"/>
          </p:nvPr>
        </p:nvSpPr>
        <p:spPr/>
        <p:txBody>
          <a:bodyPr/>
          <a:lstStyle/>
          <a:p>
            <a:fld id="{758B5404-EDD7-4EB4-8AAE-FD23920D7A2C}" type="datetime1">
              <a:t>3/11/2026</a:t>
            </a:fld>
            <a:endParaRPr lang="en-US"/>
          </a:p>
        </p:txBody>
      </p:sp>
      <p:sp>
        <p:nvSpPr>
          <p:cNvPr id="4" name="Footer Placeholder 3">
            <a:extLst>
              <a:ext uri="{FF2B5EF4-FFF2-40B4-BE49-F238E27FC236}">
                <a16:creationId xmlns:a16="http://schemas.microsoft.com/office/drawing/2014/main" id="{CB593A5D-C6AA-B735-E170-99C19E817767}"/>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D6DE378C-63A6-49F5-3100-F489DD60B55F}"/>
              </a:ext>
            </a:extLst>
          </p:cNvPr>
          <p:cNvSpPr>
            <a:spLocks noGrp="1"/>
          </p:cNvSpPr>
          <p:nvPr>
            <p:ph type="sldNum" sz="quarter" idx="12"/>
          </p:nvPr>
        </p:nvSpPr>
        <p:spPr/>
        <p:txBody>
          <a:bodyPr/>
          <a:lstStyle/>
          <a:p>
            <a:fld id="{196A61CA-0502-4EE4-9724-96EA822543E5}" type="slidenum">
              <a:rPr lang="en-US" dirty="0"/>
              <a:t>21</a:t>
            </a:fld>
            <a:endParaRPr lang="en-US"/>
          </a:p>
        </p:txBody>
      </p:sp>
    </p:spTree>
    <p:extLst>
      <p:ext uri="{BB962C8B-B14F-4D97-AF65-F5344CB8AC3E}">
        <p14:creationId xmlns:p14="http://schemas.microsoft.com/office/powerpoint/2010/main" val="2227111422"/>
      </p:ext>
    </p:extLst>
  </p:cSld>
  <p:clrMapOvr>
    <a:masterClrMapping/>
  </p:clrMapOvr>
  <p:transition spd="slow">
    <p:wipe/>
  </p:transition>
</p:sld>
</file>

<file path=ppt/theme/theme1.xml><?xml version="1.0" encoding="utf-8"?>
<a:theme xmlns:a="http://schemas.openxmlformats.org/drawingml/2006/main" name="PortalVTI">
  <a:themeElements>
    <a:clrScheme name="PortalVTI">
      <a:dk1>
        <a:sysClr val="windowText" lastClr="000000"/>
      </a:dk1>
      <a:lt1>
        <a:sysClr val="window" lastClr="FFFFFF"/>
      </a:lt1>
      <a:dk2>
        <a:srgbClr val="051618"/>
      </a:dk2>
      <a:lt2>
        <a:srgbClr val="E8E8DF"/>
      </a:lt2>
      <a:accent1>
        <a:srgbClr val="2D714C"/>
      </a:accent1>
      <a:accent2>
        <a:srgbClr val="1F7985"/>
      </a:accent2>
      <a:accent3>
        <a:srgbClr val="0D6756"/>
      </a:accent3>
      <a:accent4>
        <a:srgbClr val="40945E"/>
      </a:accent4>
      <a:accent5>
        <a:srgbClr val="389896"/>
      </a:accent5>
      <a:accent6>
        <a:srgbClr val="64924A"/>
      </a:accent6>
      <a:hlink>
        <a:srgbClr val="1F855C"/>
      </a:hlink>
      <a:folHlink>
        <a:srgbClr val="227390"/>
      </a:folHlink>
    </a:clrScheme>
    <a:fontScheme name="PortalVTI">
      <a:majorFont>
        <a:latin typeface="Trade Gothic Next Cond"/>
        <a:ea typeface=""/>
        <a:cs typeface=""/>
      </a:majorFont>
      <a:minorFont>
        <a:latin typeface="Trade Gothic Next Light"/>
        <a:ea typeface=""/>
        <a:cs typeface=""/>
      </a:minorFont>
    </a:fontScheme>
    <a:fmtScheme name="Portal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E3A4BB4D-5227-4A6D-99D3-DBAB0FE4C68F}" vid="{BE515EFD-5A7A-4BFE-BE06-A21DB8499CD2}"/>
    </a:ext>
  </a:extLst>
</a:theme>
</file>

<file path=docProps/app.xml><?xml version="1.0" encoding="utf-8"?>
<Properties xmlns="http://schemas.openxmlformats.org/officeDocument/2006/extended-properties" xmlns:vt="http://schemas.openxmlformats.org/officeDocument/2006/docPropsVTypes">
  <TotalTime>0</TotalTime>
  <Words>2148</Words>
  <Application>Microsoft Office PowerPoint</Application>
  <PresentationFormat>Widescreen</PresentationFormat>
  <Paragraphs>208</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Consolas</vt:lpstr>
      <vt:lpstr>Trade Gothic Next Cond</vt:lpstr>
      <vt:lpstr>Trade Gothic Next Light</vt:lpstr>
      <vt:lpstr>PortalVTI</vt:lpstr>
      <vt:lpstr>Ai readiness assessment tool   </vt:lpstr>
      <vt:lpstr>PROBLEM STATEMENT</vt:lpstr>
      <vt:lpstr>Introduction </vt:lpstr>
      <vt:lpstr>objectives</vt:lpstr>
      <vt:lpstr>Team members and roles</vt:lpstr>
      <vt:lpstr>Solution Approach</vt:lpstr>
      <vt:lpstr>System overview</vt:lpstr>
      <vt:lpstr>FRONTEND </vt:lpstr>
      <vt:lpstr>FRONTEND</vt:lpstr>
      <vt:lpstr>FRONTEND</vt:lpstr>
      <vt:lpstr>Backend -Static Rule-Based Analysis Engine</vt:lpstr>
      <vt:lpstr>PowerPoint Presentation</vt:lpstr>
      <vt:lpstr>PowerPoint Presentation</vt:lpstr>
      <vt:lpstr>PowerPoint Presentation</vt:lpstr>
      <vt:lpstr>Backend -Multi-Layer Readiness Evaluation</vt:lpstr>
      <vt:lpstr>Backend -Weighted AI Readiness Scoring Model</vt:lpstr>
      <vt:lpstr>Data Storage</vt:lpstr>
      <vt:lpstr>AI Readiness Report Generation</vt:lpstr>
      <vt:lpstr>Future enhancements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Samiksha Agarwal</dc:creator>
  <cp:lastModifiedBy>Prashanth CHIGICHERLA</cp:lastModifiedBy>
  <cp:revision>22</cp:revision>
  <dcterms:created xsi:type="dcterms:W3CDTF">2026-03-09T07:29:33Z</dcterms:created>
  <dcterms:modified xsi:type="dcterms:W3CDTF">2026-03-11T08:31:52Z</dcterms:modified>
</cp:coreProperties>
</file>